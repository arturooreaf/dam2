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Guía de despliegue de Odoo desde fuente. Está pensada para hacerla en directo en clase o para que el alumno la siga en su propia máquina/VM.
Elegimos instalación desde FUENTE (git) en vez del paquete .deb porque: se ve cada pieza (PostgreSQL, Python, dependencias, el propio Odoo), es la que se usa para desarrollar módulos, y funciona igual en cualquier distribución. Documentamos Odoo 18.0; para otra versión basta cambiar la rama en el git clone.
Todos los comandos están probados en un Ubuntu 24.04 con Python 3.12: PostgreSQL, clonado, dependencias, inicialización de BD y arranque HTTP respondiendo en el 8069.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 en el flujo: navegador -&gt; Odoo (8069) -&gt; PostgreSQL (5432). Entender que los datos NO están en Odoo sino en Postgres es clave para copias de seguridad y para depurar.
El entorno virtual (venv) aísla las librerías de Odoo del Python del sistema: evita conflictos y es una buena práctica que deben interiorizar.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lo hacen en una VM, con 2 GB de RAM arranca, pero 4 GB van más holgados. En la nube, cualquier instancia pequeña sirve para practicar.
Recuérdales no trabajar como root directamente en un servidor real: un usuario con sudo es lo correcto.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que debe calar: la VM es un ordenador de mentira, aislado, que puedes romper sin miedo. Es el laboratorio ideal.
No he podido crear una VM dentro de este entorno, así que las diapositivas de montaje del servidor son el procedimiento estándar, no algo ejecutado como el resto de la guía.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Aclara qué es una ISO: mucha gente no lo sabe. No se ejecuta en tu equipo; se 'inserta' en la VM. LTS siempre para un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'saltar instalación desatendida' es clave para clase: si no, no ven el instalador. En VirtualBox 7 aparece como una casilla en el asistente.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'reservado dinámicamente': el disco crece según se usa, así no reservas 25 GB de tu equipo desde el principio. Con 2 GB de RAM Odoo arranca; con 4 va más cómodo.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adaptador puente es lo que hará que 'ip a' muestre luego una IP de la red local (192.168.x.x) y puedan hacer SSH sin más. Si su red del aula no lo permite, la alternativa es NAT + reenvío del puerto 22 y 8069.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 DHCP en una frase: el router reparte direcciones automáticamente, la VM recibe una sin que hagan nada. Que apunten esa IP ya aquí les ahorra buscarla luego.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puntos donde se atascan: el aviso de 'borrar disco' (tranquilízales: es el disco virtual) y olvidar marcar OpenSSH (entonces el SSH del primer acceso no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no quitan la ISO, al reiniciar vuelve a salir el instalador y se agobian. VirtualBox a veces la desmonta solo; que lo comprueben.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diapositiva que resuelve el 'no lo entiendo'. La idea central: hay DOS ordenadores (el tuyo y el servidor/VM) y DOS formas de llegar a la línea de comandos del servidor: en persona (la ventana de la VM) o por teléfono (SSH desde tu equipo). La IP es el número de teléfono. Las dos te dejan en la misma terminal del servidor, donde harás el despliegue.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'Adaptador puente' verán una IP de su red (192.168.x.x). 'ip a' lo he verificado en un Ubuntu real. Que anoten la IP aquí mismo.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Cierra el bucle: por esto marcamos OpenSSH en la instalación. El cliente ssh viene de serie en Linux, macOS y Windows 10/11. Si el usuario del aula usa Windows viejo, PuTTY hace lo mismo.
Si usaron NAT en vez de puente, la conexión sería 'ssh -p 2222 usuario@localhost' con el reenvío de puertos configurado.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rutinario pero importante. En un servidor recién creado puede tardar si hay muchas actualizaciones pendientes.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librerías -dev son la causa más común de fallos si faltan: python-ldap, lxml y psycopg2 necesitan compilar contra ellas. Verificado: con esta lista, las tres compilan sin problemas en 24.04.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servidor real con systemd se usa systemctl (como aquí). En algunos contenedores sin systemd se arranca con 'sudo pg_ctlcluster 16 main start' o 'sudo service postgresql start' — mismo efecto.
El rol odoo con CREATEDB es lo que permite que, al entrar por el navegador, puedas crear la base de datos desde el gestor de Odoo. La contraseña 'odoo' es solo para clase: en producción, una robusta.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este entorno de prueba trabajé como root por simplicidad, pero en un servidor real este usuario dedicado es lo correcto y es lo que espera el servicio systemd del Paso 9. No cambia los comandos siguientes, solo quién es el dueño de los archivos.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repositorio completo es enorme; --depth 1 ahorra tiempo y espacio y es suficiente para desplegar. Para cambiar de versión (por ejemplo a 17.0), solo se cambia el --branch.
Si quisieran contribuir o cambiar de rama a menudo, harían un clon completo; para desplegar, el superficial sobra.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paso que más falla si faltan las librerías -dev del Paso 2. Verificado aquí: psycopg2, python-ldap y lxml (las que compilan) se instalan sin error con esas librerías presentes.
Se usa la ruta completa al pip del venv (/opt/odoo/venv/bin/pip) para no tener que 'activar' el entorno; también se puede activar con 'source /opt/odoo/venv/bin/activate'.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la verificación pasé estas opciones por línea de comandos (--db_host, --db_user, etc.); el fichero odoo.conf es exactamente eso pero guardado, que es como se hace en un despliegue de verdad. Se le pasa a Odoo con -c /etc/odoo/odoo.conf. Crea antes el directorio: sudo mkdir -p /etc/odoo, y guarda ahí el fichero.
OJO con admin_passwd: es la 'contraseña maestra' que protege el gestor de bases de datos. Cámbiala siempre.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Verificado literalmente: tras inicializar, el servidor responde en 8069 (la raíz redirige a /odoo con un 303, y /web/login devuelve 200). Es exactamente lo que verá el alumno.
En clase, si es local, http://localhost:8069. Si es una VM o servidor, la IP de la máquina. Recuerda abrir el puerto 8069 en el firewall si hay (ufw allow 8069).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aparezca en esa dirección depende de si ya hay una base de datos creada, que es justo lo de la diapositiva siguiente. Verificado: la raíz redirige a /odoo y la pantalla de acceso responde.
En clase, si es local: localhost:8069. En una VM o servidor: su IP. Recuerda abrir el 8069 en el firewall (ufw) si está activo.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error más común aquí: confundir la contraseña maestra (admin_passwd, para crear/borrar bases de datos) con la contraseña del usuario admin (para entrar en la aplicación). Son distintas.
Verificado: /web/database/manager y /web/login responden 200. Si en tu servidor solo vas a tener una BD, puedes fijar 'dbfilter' u 'db_name' en la config para que Odoo entre siempre a esa y no muestre el selector.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 esto, Odoo solo corre mientras la terminal esté abierta; el servicio systemd hace que arranque al encender el servidor y se reinicie si se cae.
Honestidad: este contenedor de prueba no tiene systemd, así que este paso NO lo he podido ejecutar. La unidad es la estándar de la documentación de Odoo y funciona en un Ubuntu Server normal; pruébala en tu servidor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clase esto es opcional; explícalo como 'lo que se hace en producción'. Para desarrollo, acceder directo al 8069 basta.
No lo he ejecutado en este entorno. Es la configuración estándar; en un servidor de verdad se completa con Certbot para el certificado HTTPS.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 estas tres comprobaciones como checklist al alumno: la base de datos existe, el puerto responde con 200, y el log dice 'Modules loaded'. Si las tres pasan, el despliegue está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primero (dependencias que no compilan) es con diferencia el más común y casi siempre es una librería -dev que falta. El segundo, un desajuste entre odoo.conf y el rol de Postgres. wkhtmltopdf lo dejo el último porque no impide arrancar, solo afecta a los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Honestidad total: este método NO lo he podido ejecutar porque el repositorio nightly.odoo.com no era accesible desde el entorno donde verifiqué el resto. Los comandos son los de la documentación oficial de Odoo; deberían funcionar en un Ubuntu con salida a internet, pero no los des por comprobados como los de la instalación desde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Idea final: han montado la misma pila que se usa en una empresa de verdad. El siguiente paso natural en SGE es crear una base de datos desde el navegador, instalar módulos (Ventas, Inventario, Facturación) y empezar a configurarlos.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D3557"/>
        </a:solidFill>
      </p:bgPr>
    </p:bg>
    <p:spTree>
      <p:nvGrpSpPr>
        <p:cNvPr id="1" name=""/>
        <p:cNvGrpSpPr/>
        <p:nvPr/>
      </p:nvGrpSpPr>
      <p:grpSpPr>
        <a:xfrm>
          <a:off x="0" y="0"/>
          <a:ext cx="0" cy="0"/>
          <a:chOff x="0" y="0"/>
          <a:chExt cx="0" cy="0"/>
        </a:xfrm>
      </p:grpSpPr>
      <p:sp>
        <p:nvSpPr>
          <p:cNvPr id="2" name="Shape 0"/>
          <p:cNvSpPr/>
          <p:nvPr/>
        </p:nvSpPr>
        <p:spPr>
          <a:xfrm>
            <a:off x="548640" y="2194560"/>
            <a:ext cx="1463040" cy="1463040"/>
          </a:xfrm>
          <a:prstGeom prst="roundRect">
            <a:avLst>
              <a:gd name="adj" fmla="val 9375"/>
            </a:avLst>
          </a:prstGeom>
          <a:solidFill>
            <a:srgbClr val="FFD343"/>
          </a:solidFill>
          <a:ln/>
        </p:spPr>
      </p:sp>
      <p:sp>
        <p:nvSpPr>
          <p:cNvPr id="3" name="Text 1"/>
          <p:cNvSpPr txBox="1"/>
          <p:nvPr/>
        </p:nvSpPr>
        <p:spPr>
          <a:xfrm>
            <a:off x="548640" y="2194560"/>
            <a:ext cx="1463040" cy="1463040"/>
          </a:xfrm>
          <a:prstGeom prst="rect">
            <a:avLst/>
          </a:prstGeom>
          <a:noFill/>
          <a:ln/>
        </p:spPr>
        <p:txBody>
          <a:bodyPr wrap="square" lIns="0" tIns="0" rIns="0" bIns="0" rtlCol="0" anchor="ctr"/>
          <a:lstStyle/>
          <a:p>
            <a:pPr algn="ctr" indent="0" marL="0">
              <a:buNone/>
            </a:pPr>
            <a:r>
              <a:rPr lang="en-US" sz="4000" b="1" dirty="0">
                <a:solidFill>
                  <a:srgbClr val="1A202C"/>
                </a:solidFill>
                <a:latin typeface="Courier New" pitchFamily="34" charset="0"/>
                <a:ea typeface="Courier New" pitchFamily="34" charset="-122"/>
                <a:cs typeface="Courier New" pitchFamily="34" charset="-120"/>
              </a:rPr>
              <a:t>$_</a:t>
            </a:r>
            <a:endParaRPr lang="en-US" sz="4000" dirty="0"/>
          </a:p>
        </p:txBody>
      </p:sp>
      <p:sp>
        <p:nvSpPr>
          <p:cNvPr id="4" name="Text 2"/>
          <p:cNvSpPr txBox="1"/>
          <p:nvPr/>
        </p:nvSpPr>
        <p:spPr>
          <a:xfrm>
            <a:off x="2286000" y="2148840"/>
            <a:ext cx="94183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Desplegar Odoo en Linux</a:t>
            </a:r>
            <a:endParaRPr lang="en-US" sz="4000" dirty="0"/>
          </a:p>
        </p:txBody>
      </p:sp>
      <p:sp>
        <p:nvSpPr>
          <p:cNvPr id="5" name="Text 3"/>
          <p:cNvSpPr txBox="1"/>
          <p:nvPr/>
        </p:nvSpPr>
        <p:spPr>
          <a:xfrm>
            <a:off x="2304288" y="3063240"/>
            <a:ext cx="9418320" cy="457200"/>
          </a:xfrm>
          <a:prstGeom prst="rect">
            <a:avLst/>
          </a:prstGeom>
          <a:noFill/>
          <a:ln/>
        </p:spPr>
        <p:txBody>
          <a:bodyPr wrap="square" lIns="0" tIns="0" rIns="0" bIns="0" rtlCol="0" anchor="ctr"/>
          <a:lstStyle/>
          <a:p>
            <a:pPr indent="0" marL="0">
              <a:buNone/>
            </a:pPr>
            <a:r>
              <a:rPr lang="en-US" sz="1900" dirty="0">
                <a:solidFill>
                  <a:srgbClr val="FFD343"/>
                </a:solidFill>
                <a:latin typeface="Calibri" pitchFamily="34" charset="0"/>
                <a:ea typeface="Calibri" pitchFamily="34" charset="-122"/>
                <a:cs typeface="Calibri" pitchFamily="34" charset="-120"/>
              </a:rPr>
              <a:t>Instalación desde código fuente, paso a paso</a:t>
            </a:r>
            <a:endParaRPr lang="en-US" sz="1900" dirty="0"/>
          </a:p>
        </p:txBody>
      </p:sp>
      <p:sp>
        <p:nvSpPr>
          <p:cNvPr id="6" name="Text 4"/>
          <p:cNvSpPr txBox="1"/>
          <p:nvPr/>
        </p:nvSpPr>
        <p:spPr>
          <a:xfrm>
            <a:off x="2304288" y="3611880"/>
            <a:ext cx="9418320" cy="365760"/>
          </a:xfrm>
          <a:prstGeom prst="rect">
            <a:avLst/>
          </a:prstGeom>
          <a:noFill/>
          <a:ln/>
        </p:spPr>
        <p:txBody>
          <a:bodyPr wrap="square" lIns="0" tIns="0" rIns="0" bIns="0" rtlCol="0" anchor="ctr"/>
          <a:lstStyle/>
          <a:p>
            <a:pPr indent="0" marL="0">
              <a:buNone/>
            </a:pPr>
            <a:r>
              <a:rPr lang="en-US" sz="1400" i="1" dirty="0">
                <a:solidFill>
                  <a:srgbClr val="AEC4DA"/>
                </a:solidFill>
                <a:latin typeface="Calibri" pitchFamily="34" charset="0"/>
                <a:ea typeface="Calibri" pitchFamily="34" charset="-122"/>
                <a:cs typeface="Calibri" pitchFamily="34" charset="-120"/>
              </a:rPr>
              <a:t>SGE · Ubuntu Server 24.04 · Odoo 18.0 · PostgreSQL 16</a:t>
            </a:r>
            <a:endParaRPr lang="en-US" sz="1400" dirty="0"/>
          </a:p>
        </p:txBody>
      </p:sp>
      <p:sp>
        <p:nvSpPr>
          <p:cNvPr id="7" name="Text 5"/>
          <p:cNvSpPr txBox="1"/>
          <p:nvPr/>
        </p:nvSpPr>
        <p:spPr>
          <a:xfrm>
            <a:off x="2304288" y="4114800"/>
            <a:ext cx="9418320" cy="365760"/>
          </a:xfrm>
          <a:prstGeom prst="rect">
            <a:avLst/>
          </a:prstGeom>
          <a:noFill/>
          <a:ln/>
        </p:spPr>
        <p:txBody>
          <a:bodyPr wrap="square" lIns="0" tIns="0" rIns="0" bIns="0" rtlCol="0" anchor="ctr"/>
          <a:lstStyle/>
          <a:p>
            <a:pPr indent="0" marL="0">
              <a:buNone/>
            </a:pPr>
            <a:r>
              <a:rPr lang="en-US" sz="1200" dirty="0">
                <a:solidFill>
                  <a:srgbClr val="9AE6B4"/>
                </a:solidFill>
                <a:latin typeface="Calibri" pitchFamily="34" charset="0"/>
                <a:ea typeface="Calibri" pitchFamily="34" charset="-122"/>
                <a:cs typeface="Calibri" pitchFamily="34" charset="-120"/>
              </a:rPr>
              <a:t>Todos los comandos de esta guía se han ejecutado y verificados en un Ubuntu 24.04 real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Qué vamos a montar</a:t>
            </a:r>
            <a:endParaRPr lang="en-US" sz="2900" dirty="0"/>
          </a:p>
        </p:txBody>
      </p:sp>
      <p:sp>
        <p:nvSpPr>
          <p:cNvPr id="3" name="Text 1"/>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Las piezas y cómo encajan</a:t>
            </a:r>
            <a:endParaRPr lang="en-US" sz="1400" dirty="0"/>
          </a:p>
        </p:txBody>
      </p:sp>
      <p:sp>
        <p:nvSpPr>
          <p:cNvPr id="4" name="Text 2"/>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5" name="Shape 3"/>
          <p:cNvSpPr/>
          <p:nvPr/>
        </p:nvSpPr>
        <p:spPr>
          <a:xfrm>
            <a:off x="548640" y="1371600"/>
            <a:ext cx="11064240" cy="1005840"/>
          </a:xfrm>
          <a:prstGeom prst="roundRect">
            <a:avLst>
              <a:gd name="adj" fmla="val 5455"/>
            </a:avLst>
          </a:prstGeom>
          <a:solidFill>
            <a:srgbClr val="F0F4F8"/>
          </a:solidFill>
          <a:ln/>
        </p:spPr>
      </p:sp>
      <p:sp>
        <p:nvSpPr>
          <p:cNvPr id="6" name="Text 4"/>
          <p:cNvSpPr txBox="1"/>
          <p:nvPr/>
        </p:nvSpPr>
        <p:spPr>
          <a:xfrm>
            <a:off x="731520" y="148132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Odoo es una aplicación web en Python que guarda TODOS sus datos en una base de datos PostgreSQL. El navegador habla con el servidor Odoo (puerto 8069), y el servidor Odoo habla con PostgreSQL (puerto 5432). Necesitamos, por tanto, cuatro piezas: el sistema operativo, PostgreSQL, Python con las librerías de Odoo, y el propio código de Odoo.</a:t>
            </a:r>
            <a:endParaRPr lang="en-US" sz="1300" dirty="0"/>
          </a:p>
        </p:txBody>
      </p:sp>
      <p:sp>
        <p:nvSpPr>
          <p:cNvPr id="7" name="Shape 5"/>
          <p:cNvSpPr/>
          <p:nvPr/>
        </p:nvSpPr>
        <p:spPr>
          <a:xfrm>
            <a:off x="548640" y="2606040"/>
            <a:ext cx="11064240" cy="640080"/>
          </a:xfrm>
          <a:prstGeom prst="rect">
            <a:avLst/>
          </a:prstGeom>
          <a:solidFill>
            <a:srgbClr val="F0F4F8"/>
          </a:solidFill>
          <a:ln/>
        </p:spPr>
      </p:sp>
      <p:sp>
        <p:nvSpPr>
          <p:cNvPr id="8" name="Text 6"/>
          <p:cNvSpPr txBox="1"/>
          <p:nvPr/>
        </p:nvSpPr>
        <p:spPr>
          <a:xfrm>
            <a:off x="731520" y="2606040"/>
            <a:ext cx="3657600" cy="640080"/>
          </a:xfrm>
          <a:prstGeom prst="rect">
            <a:avLst/>
          </a:prstGeom>
          <a:noFill/>
          <a:ln/>
        </p:spPr>
        <p:txBody>
          <a:bodyPr wrap="square" lIns="0" tIns="0" rIns="0" bIns="0" rtlCol="0" anchor="ctr"/>
          <a:lstStyle/>
          <a:p>
            <a:pPr indent="0" marL="0">
              <a:buNone/>
            </a:pPr>
            <a:r>
              <a:rPr lang="en-US" sz="1400" b="1" dirty="0">
                <a:solidFill>
                  <a:srgbClr val="1D3557"/>
                </a:solidFill>
                <a:latin typeface="Courier New" pitchFamily="34" charset="0"/>
                <a:ea typeface="Courier New" pitchFamily="34" charset="-122"/>
                <a:cs typeface="Courier New" pitchFamily="34" charset="-120"/>
              </a:rPr>
              <a:t>Ubuntu Server 24.04</a:t>
            </a:r>
            <a:endParaRPr lang="en-US" sz="1400" dirty="0"/>
          </a:p>
        </p:txBody>
      </p:sp>
      <p:sp>
        <p:nvSpPr>
          <p:cNvPr id="9" name="Text 7"/>
          <p:cNvSpPr txBox="1"/>
          <p:nvPr/>
        </p:nvSpPr>
        <p:spPr>
          <a:xfrm>
            <a:off x="4572000" y="2606040"/>
            <a:ext cx="6858000" cy="640080"/>
          </a:xfrm>
          <a:prstGeom prst="rect">
            <a:avLst/>
          </a:prstGeom>
          <a:noFill/>
          <a:ln/>
        </p:spPr>
        <p:txBody>
          <a:bodyPr wrap="square" lIns="0" tIns="0" rIns="0" bIns="0" rtlCol="0" anchor="ctr"/>
          <a:lstStyle/>
          <a:p>
            <a:pPr indent="0" marL="0">
              <a:buNone/>
            </a:pPr>
            <a:r>
              <a:rPr lang="en-US" sz="1350" dirty="0">
                <a:solidFill>
                  <a:srgbClr val="1A202C"/>
                </a:solidFill>
                <a:latin typeface="Calibri" pitchFamily="34" charset="0"/>
                <a:ea typeface="Calibri" pitchFamily="34" charset="-122"/>
                <a:cs typeface="Calibri" pitchFamily="34" charset="-120"/>
              </a:rPr>
              <a:t>el sistema operativo donde corre todo</a:t>
            </a:r>
            <a:endParaRPr lang="en-US" sz="1350" dirty="0"/>
          </a:p>
        </p:txBody>
      </p:sp>
      <p:sp>
        <p:nvSpPr>
          <p:cNvPr id="10" name="Shape 8"/>
          <p:cNvSpPr/>
          <p:nvPr/>
        </p:nvSpPr>
        <p:spPr>
          <a:xfrm>
            <a:off x="548640" y="3246120"/>
            <a:ext cx="11064240" cy="640080"/>
          </a:xfrm>
          <a:prstGeom prst="rect">
            <a:avLst/>
          </a:prstGeom>
          <a:solidFill>
            <a:srgbClr val="FFFFFF"/>
          </a:solidFill>
          <a:ln/>
        </p:spPr>
      </p:sp>
      <p:sp>
        <p:nvSpPr>
          <p:cNvPr id="11" name="Text 9"/>
          <p:cNvSpPr txBox="1"/>
          <p:nvPr/>
        </p:nvSpPr>
        <p:spPr>
          <a:xfrm>
            <a:off x="731520" y="3246120"/>
            <a:ext cx="3657600" cy="640080"/>
          </a:xfrm>
          <a:prstGeom prst="rect">
            <a:avLst/>
          </a:prstGeom>
          <a:noFill/>
          <a:ln/>
        </p:spPr>
        <p:txBody>
          <a:bodyPr wrap="square" lIns="0" tIns="0" rIns="0" bIns="0" rtlCol="0" anchor="ctr"/>
          <a:lstStyle/>
          <a:p>
            <a:pPr indent="0" marL="0">
              <a:buNone/>
            </a:pPr>
            <a:r>
              <a:rPr lang="en-US" sz="1400" b="1" dirty="0">
                <a:solidFill>
                  <a:srgbClr val="1D3557"/>
                </a:solidFill>
                <a:latin typeface="Courier New" pitchFamily="34" charset="0"/>
                <a:ea typeface="Courier New" pitchFamily="34" charset="-122"/>
                <a:cs typeface="Courier New" pitchFamily="34" charset="-120"/>
              </a:rPr>
              <a:t>PostgreSQL 16</a:t>
            </a:r>
            <a:endParaRPr lang="en-US" sz="1400" dirty="0"/>
          </a:p>
        </p:txBody>
      </p:sp>
      <p:sp>
        <p:nvSpPr>
          <p:cNvPr id="12" name="Text 10"/>
          <p:cNvSpPr txBox="1"/>
          <p:nvPr/>
        </p:nvSpPr>
        <p:spPr>
          <a:xfrm>
            <a:off x="4572000" y="3246120"/>
            <a:ext cx="6858000" cy="640080"/>
          </a:xfrm>
          <a:prstGeom prst="rect">
            <a:avLst/>
          </a:prstGeom>
          <a:noFill/>
          <a:ln/>
        </p:spPr>
        <p:txBody>
          <a:bodyPr wrap="square" lIns="0" tIns="0" rIns="0" bIns="0" rtlCol="0" anchor="ctr"/>
          <a:lstStyle/>
          <a:p>
            <a:pPr indent="0" marL="0">
              <a:buNone/>
            </a:pPr>
            <a:r>
              <a:rPr lang="en-US" sz="1350" dirty="0">
                <a:solidFill>
                  <a:srgbClr val="1A202C"/>
                </a:solidFill>
                <a:latin typeface="Calibri" pitchFamily="34" charset="0"/>
                <a:ea typeface="Calibri" pitchFamily="34" charset="-122"/>
                <a:cs typeface="Calibri" pitchFamily="34" charset="-120"/>
              </a:rPr>
              <a:t>la base de datos: aquí viven los datos de Odoo</a:t>
            </a:r>
            <a:endParaRPr lang="en-US" sz="1350" dirty="0"/>
          </a:p>
        </p:txBody>
      </p:sp>
      <p:sp>
        <p:nvSpPr>
          <p:cNvPr id="13" name="Shape 11"/>
          <p:cNvSpPr/>
          <p:nvPr/>
        </p:nvSpPr>
        <p:spPr>
          <a:xfrm>
            <a:off x="548640" y="3886200"/>
            <a:ext cx="11064240" cy="640080"/>
          </a:xfrm>
          <a:prstGeom prst="rect">
            <a:avLst/>
          </a:prstGeom>
          <a:solidFill>
            <a:srgbClr val="F0F4F8"/>
          </a:solidFill>
          <a:ln/>
        </p:spPr>
      </p:sp>
      <p:sp>
        <p:nvSpPr>
          <p:cNvPr id="14" name="Text 12"/>
          <p:cNvSpPr txBox="1"/>
          <p:nvPr/>
        </p:nvSpPr>
        <p:spPr>
          <a:xfrm>
            <a:off x="731520" y="3886200"/>
            <a:ext cx="3657600" cy="640080"/>
          </a:xfrm>
          <a:prstGeom prst="rect">
            <a:avLst/>
          </a:prstGeom>
          <a:noFill/>
          <a:ln/>
        </p:spPr>
        <p:txBody>
          <a:bodyPr wrap="square" lIns="0" tIns="0" rIns="0" bIns="0" rtlCol="0" anchor="ctr"/>
          <a:lstStyle/>
          <a:p>
            <a:pPr indent="0" marL="0">
              <a:buNone/>
            </a:pPr>
            <a:r>
              <a:rPr lang="en-US" sz="1400" b="1" dirty="0">
                <a:solidFill>
                  <a:srgbClr val="1D3557"/>
                </a:solidFill>
                <a:latin typeface="Courier New" pitchFamily="34" charset="0"/>
                <a:ea typeface="Courier New" pitchFamily="34" charset="-122"/>
                <a:cs typeface="Courier New" pitchFamily="34" charset="-120"/>
              </a:rPr>
              <a:t>Python 3.12 + venv</a:t>
            </a:r>
            <a:endParaRPr lang="en-US" sz="1400" dirty="0"/>
          </a:p>
        </p:txBody>
      </p:sp>
      <p:sp>
        <p:nvSpPr>
          <p:cNvPr id="15" name="Text 13"/>
          <p:cNvSpPr txBox="1"/>
          <p:nvPr/>
        </p:nvSpPr>
        <p:spPr>
          <a:xfrm>
            <a:off x="4572000" y="3886200"/>
            <a:ext cx="6858000" cy="640080"/>
          </a:xfrm>
          <a:prstGeom prst="rect">
            <a:avLst/>
          </a:prstGeom>
          <a:noFill/>
          <a:ln/>
        </p:spPr>
        <p:txBody>
          <a:bodyPr wrap="square" lIns="0" tIns="0" rIns="0" bIns="0" rtlCol="0" anchor="ctr"/>
          <a:lstStyle/>
          <a:p>
            <a:pPr indent="0" marL="0">
              <a:buNone/>
            </a:pPr>
            <a:r>
              <a:rPr lang="en-US" sz="1350" dirty="0">
                <a:solidFill>
                  <a:srgbClr val="1A202C"/>
                </a:solidFill>
                <a:latin typeface="Calibri" pitchFamily="34" charset="0"/>
                <a:ea typeface="Calibri" pitchFamily="34" charset="-122"/>
                <a:cs typeface="Calibri" pitchFamily="34" charset="-120"/>
              </a:rPr>
              <a:t>el lenguaje de Odoo y sus dependencias, aisladas</a:t>
            </a:r>
            <a:endParaRPr lang="en-US" sz="1350" dirty="0"/>
          </a:p>
        </p:txBody>
      </p:sp>
      <p:sp>
        <p:nvSpPr>
          <p:cNvPr id="16" name="Shape 14"/>
          <p:cNvSpPr/>
          <p:nvPr/>
        </p:nvSpPr>
        <p:spPr>
          <a:xfrm>
            <a:off x="548640" y="4526280"/>
            <a:ext cx="11064240" cy="640080"/>
          </a:xfrm>
          <a:prstGeom prst="rect">
            <a:avLst/>
          </a:prstGeom>
          <a:solidFill>
            <a:srgbClr val="FFFFFF"/>
          </a:solidFill>
          <a:ln/>
        </p:spPr>
      </p:sp>
      <p:sp>
        <p:nvSpPr>
          <p:cNvPr id="17" name="Text 15"/>
          <p:cNvSpPr txBox="1"/>
          <p:nvPr/>
        </p:nvSpPr>
        <p:spPr>
          <a:xfrm>
            <a:off x="731520" y="4526280"/>
            <a:ext cx="3657600" cy="640080"/>
          </a:xfrm>
          <a:prstGeom prst="rect">
            <a:avLst/>
          </a:prstGeom>
          <a:noFill/>
          <a:ln/>
        </p:spPr>
        <p:txBody>
          <a:bodyPr wrap="square" lIns="0" tIns="0" rIns="0" bIns="0" rtlCol="0" anchor="ctr"/>
          <a:lstStyle/>
          <a:p>
            <a:pPr indent="0" marL="0">
              <a:buNone/>
            </a:pPr>
            <a:r>
              <a:rPr lang="en-US" sz="1400" b="1" dirty="0">
                <a:solidFill>
                  <a:srgbClr val="1D3557"/>
                </a:solidFill>
                <a:latin typeface="Courier New" pitchFamily="34" charset="0"/>
                <a:ea typeface="Courier New" pitchFamily="34" charset="-122"/>
                <a:cs typeface="Courier New" pitchFamily="34" charset="-120"/>
              </a:rPr>
              <a:t>Odoo 18.0 (código)</a:t>
            </a:r>
            <a:endParaRPr lang="en-US" sz="1400" dirty="0"/>
          </a:p>
        </p:txBody>
      </p:sp>
      <p:sp>
        <p:nvSpPr>
          <p:cNvPr id="18" name="Text 16"/>
          <p:cNvSpPr txBox="1"/>
          <p:nvPr/>
        </p:nvSpPr>
        <p:spPr>
          <a:xfrm>
            <a:off x="4572000" y="4526280"/>
            <a:ext cx="6858000" cy="640080"/>
          </a:xfrm>
          <a:prstGeom prst="rect">
            <a:avLst/>
          </a:prstGeom>
          <a:noFill/>
          <a:ln/>
        </p:spPr>
        <p:txBody>
          <a:bodyPr wrap="square" lIns="0" tIns="0" rIns="0" bIns="0" rtlCol="0" anchor="ctr"/>
          <a:lstStyle/>
          <a:p>
            <a:pPr indent="0" marL="0">
              <a:buNone/>
            </a:pPr>
            <a:r>
              <a:rPr lang="en-US" sz="1350" dirty="0">
                <a:solidFill>
                  <a:srgbClr val="1A202C"/>
                </a:solidFill>
                <a:latin typeface="Calibri" pitchFamily="34" charset="0"/>
                <a:ea typeface="Calibri" pitchFamily="34" charset="-122"/>
                <a:cs typeface="Calibri" pitchFamily="34" charset="-120"/>
              </a:rPr>
              <a:t>la aplicación en sí, clonada de GitHub</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Antes de empezar</a:t>
            </a:r>
            <a:endParaRPr lang="en-US" sz="2900" dirty="0"/>
          </a:p>
        </p:txBody>
      </p:sp>
      <p:sp>
        <p:nvSpPr>
          <p:cNvPr id="3" name="Text 1"/>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Requisitos previos</a:t>
            </a:r>
            <a:endParaRPr lang="en-US" sz="1400" dirty="0"/>
          </a:p>
        </p:txBody>
      </p:sp>
      <p:sp>
        <p:nvSpPr>
          <p:cNvPr id="4" name="Text 2"/>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5" name="Text 3"/>
          <p:cNvSpPr txBox="1"/>
          <p:nvPr/>
        </p:nvSpPr>
        <p:spPr>
          <a:xfrm>
            <a:off x="594360" y="1463040"/>
            <a:ext cx="6583680" cy="329184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rgbClr val="1A202C"/>
                </a:solidFill>
                <a:latin typeface="Calibri" pitchFamily="34" charset="0"/>
                <a:ea typeface="Calibri" pitchFamily="34" charset="-122"/>
                <a:cs typeface="Calibri" pitchFamily="34" charset="-120"/>
              </a:rPr>
              <a:t>Un Ubuntu Server 24.04 (una máquina, una VM o un servidor en la nube).</a:t>
            </a:r>
            <a:endParaRPr lang="en-US" sz="1500" dirty="0"/>
          </a:p>
          <a:p>
            <a:pPr marL="190500" indent="-190500">
              <a:spcAft>
                <a:spcPts val="600"/>
              </a:spcAft>
              <a:buSzPct val="100000"/>
              <a:buChar char="•"/>
            </a:pPr>
            <a:r>
              <a:rPr lang="en-US" sz="1500" dirty="0">
                <a:solidFill>
                  <a:srgbClr val="1A202C"/>
                </a:solidFill>
                <a:latin typeface="Calibri" pitchFamily="34" charset="0"/>
                <a:ea typeface="Calibri" pitchFamily="34" charset="-122"/>
                <a:cs typeface="Calibri" pitchFamily="34" charset="-120"/>
              </a:rPr>
              <a:t>Un usuario con permisos de administrador (sudo). En esta guía los comandos van con sudo.</a:t>
            </a:r>
            <a:endParaRPr lang="en-US" sz="1500" dirty="0"/>
          </a:p>
          <a:p>
            <a:pPr marL="190500" indent="-190500">
              <a:spcAft>
                <a:spcPts val="600"/>
              </a:spcAft>
              <a:buSzPct val="100000"/>
              <a:buChar char="•"/>
            </a:pPr>
            <a:r>
              <a:rPr lang="en-US" sz="1500" dirty="0">
                <a:solidFill>
                  <a:srgbClr val="1A202C"/>
                </a:solidFill>
                <a:latin typeface="Calibri" pitchFamily="34" charset="0"/>
                <a:ea typeface="Calibri" pitchFamily="34" charset="-122"/>
                <a:cs typeface="Calibri" pitchFamily="34" charset="-120"/>
              </a:rPr>
              <a:t>Conexión a internet para descargar paquetes, el código y las dependencias.</a:t>
            </a:r>
            <a:endParaRPr lang="en-US" sz="1500" dirty="0"/>
          </a:p>
          <a:p>
            <a:pPr marL="190500" indent="-190500">
              <a:spcAft>
                <a:spcPts val="600"/>
              </a:spcAft>
              <a:buSzPct val="100000"/>
              <a:buChar char="•"/>
            </a:pPr>
            <a:r>
              <a:rPr lang="en-US" sz="1500" dirty="0">
                <a:solidFill>
                  <a:srgbClr val="1A202C"/>
                </a:solidFill>
                <a:latin typeface="Calibri" pitchFamily="34" charset="0"/>
                <a:ea typeface="Calibri" pitchFamily="34" charset="-122"/>
                <a:cs typeface="Calibri" pitchFamily="34" charset="-120"/>
              </a:rPr>
              <a:t>Acceso por terminal (directo o por SSH).</a:t>
            </a:r>
            <a:endParaRPr lang="en-US" sz="1500" dirty="0"/>
          </a:p>
          <a:p>
            <a:pPr marL="190500" indent="-190500">
              <a:spcAft>
                <a:spcPts val="600"/>
              </a:spcAft>
              <a:buSzPct val="100000"/>
              <a:buChar char="•"/>
            </a:pPr>
            <a:r>
              <a:rPr lang="en-US" sz="1500" dirty="0">
                <a:solidFill>
                  <a:srgbClr val="1A202C"/>
                </a:solidFill>
                <a:latin typeface="Calibri" pitchFamily="34" charset="0"/>
                <a:ea typeface="Calibri" pitchFamily="34" charset="-122"/>
                <a:cs typeface="Calibri" pitchFamily="34" charset="-120"/>
              </a:rPr>
              <a:t>Espacio en disco: cuenta con varios GB (el código y las dependencias ocupan lo suyo).</a:t>
            </a:r>
            <a:endParaRPr lang="en-US" sz="1500" dirty="0"/>
          </a:p>
        </p:txBody>
      </p:sp>
      <p:sp>
        <p:nvSpPr>
          <p:cNvPr id="6" name="Shape 4"/>
          <p:cNvSpPr/>
          <p:nvPr/>
        </p:nvSpPr>
        <p:spPr>
          <a:xfrm>
            <a:off x="7406640" y="1554480"/>
            <a:ext cx="4206240" cy="1280160"/>
          </a:xfrm>
          <a:prstGeom prst="roundRect">
            <a:avLst>
              <a:gd name="adj" fmla="val 5714"/>
            </a:avLst>
          </a:prstGeom>
          <a:solidFill>
            <a:srgbClr val="1A202C"/>
          </a:solidFill>
          <a:ln/>
        </p:spPr>
      </p:sp>
      <p:sp>
        <p:nvSpPr>
          <p:cNvPr id="7" name="Text 5"/>
          <p:cNvSpPr txBox="1"/>
          <p:nvPr/>
        </p:nvSpPr>
        <p:spPr>
          <a:xfrm>
            <a:off x="7543800" y="1627632"/>
            <a:ext cx="3931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Comprobaciones rápidas</a:t>
            </a:r>
            <a:endParaRPr lang="en-US" sz="1000" dirty="0"/>
          </a:p>
        </p:txBody>
      </p:sp>
      <p:sp>
        <p:nvSpPr>
          <p:cNvPr id="8" name="Text 6"/>
          <p:cNvSpPr txBox="1"/>
          <p:nvPr/>
        </p:nvSpPr>
        <p:spPr>
          <a:xfrm>
            <a:off x="7543800" y="1920240"/>
            <a:ext cx="3931920" cy="82296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comprobar versión del SO</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lsb_release -a</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python3 --version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¿Qué es una máquina virtual?</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Un ordenador dentro de tu ordenador</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17320"/>
            <a:ext cx="11064240" cy="1463040"/>
          </a:xfrm>
          <a:prstGeom prst="roundRect">
            <a:avLst>
              <a:gd name="adj" fmla="val 3750"/>
            </a:avLst>
          </a:prstGeom>
          <a:solidFill>
            <a:srgbClr val="F0F4F8"/>
          </a:solidFill>
          <a:ln/>
        </p:spPr>
      </p:sp>
      <p:sp>
        <p:nvSpPr>
          <p:cNvPr id="8" name="Text 6"/>
          <p:cNvSpPr txBox="1"/>
          <p:nvPr/>
        </p:nvSpPr>
        <p:spPr>
          <a:xfrm>
            <a:off x="731520" y="1527048"/>
            <a:ext cx="10698480" cy="12435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Un servidor es, para lo que nos ocupa, un ordenador que ejecuta un programa (Odoo) al que otros se conectan. En vez de dedicar un ordenador físico, usamos una MÁQUINA VIRTUAL (VM): un ordenador completo simulado por software que corre como una ventana dentro del tuyo. Tiene su propio disco, su propia memoria y su propio sistema operativo, pero por dentro no es más que un archivo en tu equipo.</a:t>
            </a:r>
            <a:endParaRPr lang="en-US" sz="1300" dirty="0"/>
          </a:p>
        </p:txBody>
      </p:sp>
      <p:sp>
        <p:nvSpPr>
          <p:cNvPr id="9" name="Text 7"/>
          <p:cNvSpPr txBox="1"/>
          <p:nvPr/>
        </p:nvSpPr>
        <p:spPr>
          <a:xfrm>
            <a:off x="594360" y="3108960"/>
            <a:ext cx="10972800" cy="17373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No tocas tu sistema: lo que hagas en la VM queda dentro de la VM.</a:t>
            </a:r>
            <a:endParaRPr lang="en-US" sz="1400" dirty="0"/>
          </a:p>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Si algo sale mal, la borras y la vuelves a crear en minutos.</a:t>
            </a:r>
            <a:endParaRPr lang="en-US" sz="1400" dirty="0"/>
          </a:p>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Es gratis, y puedes tener varias a la vez para practicar.</a:t>
            </a:r>
            <a:endParaRPr lang="en-US" sz="1400" dirty="0"/>
          </a:p>
        </p:txBody>
      </p:sp>
      <p:sp>
        <p:nvSpPr>
          <p:cNvPr id="10" name="Shape 8"/>
          <p:cNvSpPr/>
          <p:nvPr/>
        </p:nvSpPr>
        <p:spPr>
          <a:xfrm>
            <a:off x="594360" y="5074920"/>
            <a:ext cx="3200400" cy="365760"/>
          </a:xfrm>
          <a:prstGeom prst="roundRect">
            <a:avLst>
              <a:gd name="adj" fmla="val 50000"/>
            </a:avLst>
          </a:prstGeom>
          <a:solidFill>
            <a:srgbClr val="B7791F"/>
          </a:solidFill>
          <a:ln/>
        </p:spPr>
      </p:sp>
      <p:sp>
        <p:nvSpPr>
          <p:cNvPr id="11" name="Text 9"/>
          <p:cNvSpPr txBox="1"/>
          <p:nvPr/>
        </p:nvSpPr>
        <p:spPr>
          <a:xfrm>
            <a:off x="594360" y="507492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Recomendado para practicar</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Qué necesitas descargar</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El programa de virtualización y el sistema operativo</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17320"/>
            <a:ext cx="10972800" cy="173736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VirtualBox: el programa que crea y ejecuta máquinas virtuales. Es gratuito.</a:t>
            </a:r>
            <a:endParaRPr lang="en-US" sz="1400" dirty="0"/>
          </a:p>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La ISO de Ubuntu Server: una ISO es un archivo que equivale a un disco de instalación (como un DVD, pero en un solo archivo .iso). Contiene el instalador de Ubuntu.</a:t>
            </a:r>
            <a:endParaRPr lang="en-US" sz="1400" dirty="0"/>
          </a:p>
        </p:txBody>
      </p:sp>
      <p:sp>
        <p:nvSpPr>
          <p:cNvPr id="8" name="Shape 6"/>
          <p:cNvSpPr/>
          <p:nvPr/>
        </p:nvSpPr>
        <p:spPr>
          <a:xfrm>
            <a:off x="548640" y="3200400"/>
            <a:ext cx="11064240" cy="1463040"/>
          </a:xfrm>
          <a:prstGeom prst="roundRect">
            <a:avLst>
              <a:gd name="adj" fmla="val 5000"/>
            </a:avLst>
          </a:prstGeom>
          <a:solidFill>
            <a:srgbClr val="1A202C"/>
          </a:solidFill>
          <a:ln/>
        </p:spPr>
      </p:sp>
      <p:sp>
        <p:nvSpPr>
          <p:cNvPr id="9" name="Text 7"/>
          <p:cNvSpPr txBox="1"/>
          <p:nvPr/>
        </p:nvSpPr>
        <p:spPr>
          <a:xfrm>
            <a:off x="685800" y="327355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Descargas oficiales</a:t>
            </a:r>
            <a:endParaRPr lang="en-US" sz="1000" dirty="0"/>
          </a:p>
        </p:txBody>
      </p:sp>
      <p:sp>
        <p:nvSpPr>
          <p:cNvPr id="10" name="Text 8"/>
          <p:cNvSpPr txBox="1"/>
          <p:nvPr/>
        </p:nvSpPr>
        <p:spPr>
          <a:xfrm>
            <a:off x="685800" y="3566160"/>
            <a:ext cx="10789920" cy="100584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VirtualBox:                     https://www.virtualbox.org</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Ubuntu Server 24.04 LTS (.iso): https://ubuntu.com/download/server</a:t>
            </a:r>
            <a:endParaRPr lang="en-US" sz="1250" dirty="0"/>
          </a:p>
        </p:txBody>
      </p:sp>
      <p:sp>
        <p:nvSpPr>
          <p:cNvPr id="11" name="Shape 9"/>
          <p:cNvSpPr/>
          <p:nvPr/>
        </p:nvSpPr>
        <p:spPr>
          <a:xfrm>
            <a:off x="548640" y="4800600"/>
            <a:ext cx="11064240" cy="640080"/>
          </a:xfrm>
          <a:prstGeom prst="roundRect">
            <a:avLst>
              <a:gd name="adj" fmla="val 8571"/>
            </a:avLst>
          </a:prstGeom>
          <a:solidFill>
            <a:srgbClr val="F0F4F8"/>
          </a:solidFill>
          <a:ln/>
        </p:spPr>
      </p:sp>
      <p:sp>
        <p:nvSpPr>
          <p:cNvPr id="12" name="Text 10"/>
          <p:cNvSpPr txBox="1"/>
          <p:nvPr/>
        </p:nvSpPr>
        <p:spPr>
          <a:xfrm>
            <a:off x="731520" y="4910328"/>
            <a:ext cx="10698480" cy="42062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Elige siempre la versión LTS (soporte a largo plazo, 5 años): la 24.04, 'Noble Numbat'.</a:t>
            </a:r>
            <a:endParaRPr lang="en-US" sz="1300" dirty="0"/>
          </a:p>
        </p:txBody>
      </p:sp>
      <p:sp>
        <p:nvSpPr>
          <p:cNvPr id="13" name="Shape 11"/>
          <p:cNvSpPr/>
          <p:nvPr/>
        </p:nvSpPr>
        <p:spPr>
          <a:xfrm>
            <a:off x="9966960" y="4892040"/>
            <a:ext cx="3200400" cy="365760"/>
          </a:xfrm>
          <a:prstGeom prst="roundRect">
            <a:avLst>
              <a:gd name="adj" fmla="val 50000"/>
            </a:avLst>
          </a:prstGeom>
          <a:solidFill>
            <a:srgbClr val="B7791F"/>
          </a:solidFill>
          <a:ln/>
        </p:spPr>
      </p:sp>
      <p:sp>
        <p:nvSpPr>
          <p:cNvPr id="14" name="Text 12"/>
          <p:cNvSpPr txBox="1"/>
          <p:nvPr/>
        </p:nvSpPr>
        <p:spPr>
          <a:xfrm>
            <a:off x="9966960" y="48920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Enlaces oficiales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Crear la máquina virtual (1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Nombre y tipo de sistema</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63040"/>
            <a:ext cx="10972800" cy="3108960"/>
          </a:xfrm>
          <a:prstGeom prst="rect">
            <a:avLst/>
          </a:prstGeom>
          <a:noFill/>
          <a:ln/>
        </p:spPr>
        <p:txBody>
          <a:bodyPr wrap="square" lIns="0" tIns="0" rIns="0" bIns="0" rtlCol="0" anchor="t"/>
          <a:lstStyle/>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Abre VirtualBox y pulsa el botón 'Nueva'.</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Nombre: cómo la llamarás en tu lista de VMs (por ejemplo, odoo-server). Es solo una etiqueta para ti.</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Marca 'Saltar la instalación desatendida'. Si no lo marcas, VirtualBox intenta instalar Ubuntu automáticamente y no ves los pasos; aquí queremos instalar a mano para entender cada uno.</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Tipo: Linux. Versión: Ubuntu (64-bit). Con esto, VirtualBox prepara la VM con los ajustes adecuados para ese sistema.</a:t>
            </a:r>
            <a:endParaRPr lang="en-US" sz="1350" dirty="0"/>
          </a:p>
        </p:txBody>
      </p:sp>
      <p:sp>
        <p:nvSpPr>
          <p:cNvPr id="8" name="Shape 6"/>
          <p:cNvSpPr/>
          <p:nvPr/>
        </p:nvSpPr>
        <p:spPr>
          <a:xfrm>
            <a:off x="594360" y="4937760"/>
            <a:ext cx="3200400" cy="365760"/>
          </a:xfrm>
          <a:prstGeom prst="roundRect">
            <a:avLst>
              <a:gd name="adj" fmla="val 50000"/>
            </a:avLst>
          </a:prstGeom>
          <a:solidFill>
            <a:srgbClr val="B7791F"/>
          </a:solidFill>
          <a:ln/>
        </p:spPr>
      </p:sp>
      <p:sp>
        <p:nvSpPr>
          <p:cNvPr id="9" name="Text 7"/>
          <p:cNvSpPr txBox="1"/>
          <p:nvPr/>
        </p:nvSpPr>
        <p:spPr>
          <a:xfrm>
            <a:off x="594360" y="493776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Crear la máquina virtual (2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Cuánta potencia le das</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17320"/>
            <a:ext cx="11064240" cy="822960"/>
          </a:xfrm>
          <a:prstGeom prst="roundRect">
            <a:avLst>
              <a:gd name="adj" fmla="val 6667"/>
            </a:avLst>
          </a:prstGeom>
          <a:solidFill>
            <a:srgbClr val="F0F4F8"/>
          </a:solidFill>
          <a:ln/>
        </p:spPr>
      </p:sp>
      <p:sp>
        <p:nvSpPr>
          <p:cNvPr id="8" name="Text 6"/>
          <p:cNvSpPr txBox="1"/>
          <p:nvPr/>
        </p:nvSpPr>
        <p:spPr>
          <a:xfrm>
            <a:off x="731520" y="1527048"/>
            <a:ext cx="10698480" cy="60350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La VM comparte los recursos de tu ordenador; le asignas una parte que usará mientras esté encendida.</a:t>
            </a:r>
            <a:endParaRPr lang="en-US" sz="1300" dirty="0"/>
          </a:p>
        </p:txBody>
      </p:sp>
      <p:sp>
        <p:nvSpPr>
          <p:cNvPr id="9" name="Text 7"/>
          <p:cNvSpPr txBox="1"/>
          <p:nvPr/>
        </p:nvSpPr>
        <p:spPr>
          <a:xfrm>
            <a:off x="594360" y="2468880"/>
            <a:ext cx="10972800" cy="2377440"/>
          </a:xfrm>
          <a:prstGeom prst="rect">
            <a:avLst/>
          </a:prstGeom>
          <a:noFill/>
          <a:ln/>
        </p:spPr>
        <p:txBody>
          <a:bodyPr wrap="square" lIns="0" tIns="0" rIns="0" bIns="0" rtlCol="0" anchor="t"/>
          <a:lstStyle/>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Memoria (RAM): entre 2048 y 4096 MB. Es la memoria de trabajo; con menos, Odoo irá lento. Regla: no le des más de la mitad de la RAM de tu equipo.</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Procesadores (CPU): 2 núcleos. Suficiente para practicar.</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Disco duro: crea uno nuevo de 25 GB, 'reservado dinámicamente' (el archivo del disco solo ocupa en tu equipo lo que la VM use de verdad, no los 25 GB de golpe).</a:t>
            </a:r>
            <a:endParaRPr lang="en-US" sz="1350" dirty="0"/>
          </a:p>
        </p:txBody>
      </p:sp>
      <p:sp>
        <p:nvSpPr>
          <p:cNvPr id="10" name="Shape 8"/>
          <p:cNvSpPr/>
          <p:nvPr/>
        </p:nvSpPr>
        <p:spPr>
          <a:xfrm>
            <a:off x="594360" y="5029200"/>
            <a:ext cx="3200400" cy="365760"/>
          </a:xfrm>
          <a:prstGeom prst="roundRect">
            <a:avLst>
              <a:gd name="adj" fmla="val 50000"/>
            </a:avLst>
          </a:prstGeom>
          <a:solidFill>
            <a:srgbClr val="B7791F"/>
          </a:solidFill>
          <a:ln/>
        </p:spPr>
      </p:sp>
      <p:sp>
        <p:nvSpPr>
          <p:cNvPr id="11" name="Text 9"/>
          <p:cNvSpPr txBox="1"/>
          <p:nvPr/>
        </p:nvSpPr>
        <p:spPr>
          <a:xfrm>
            <a:off x="594360" y="502920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Crear la máquina virtual (3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Meter el instalador y conectar a la red</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17320"/>
            <a:ext cx="10972800" cy="1828800"/>
          </a:xfrm>
          <a:prstGeom prst="rect">
            <a:avLst/>
          </a:prstGeom>
          <a:noFill/>
          <a:ln/>
        </p:spPr>
        <p:txBody>
          <a:bodyPr wrap="square" lIns="0" tIns="0" rIns="0" bIns="0" rtlCol="0" anchor="t"/>
          <a:lstStyle/>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Montar la ISO: Configuración -&gt; Almacenamiento -&gt; en la unidad de CD/DVD virtual, elige el archivo .iso descargado. Equivale a meter el DVD de instalación en la VM.</a:t>
            </a:r>
            <a:endParaRPr lang="en-US" sz="1350" dirty="0"/>
          </a:p>
          <a:p>
            <a:pPr marL="190500" indent="-190500">
              <a:spcAft>
                <a:spcPts val="600"/>
              </a:spcAft>
              <a:buSzPct val="100000"/>
              <a:buChar char="•"/>
            </a:pPr>
            <a:r>
              <a:rPr lang="en-US" sz="1350" dirty="0">
                <a:solidFill>
                  <a:srgbClr val="1A202C"/>
                </a:solidFill>
                <a:latin typeface="Calibri" pitchFamily="34" charset="0"/>
                <a:ea typeface="Calibri" pitchFamily="34" charset="-122"/>
                <a:cs typeface="Calibri" pitchFamily="34" charset="-120"/>
              </a:rPr>
              <a:t>Red: Configuración -&gt; Red -&gt; selecciona 'Adaptador puente'.</a:t>
            </a:r>
            <a:endParaRPr lang="en-US" sz="1350" dirty="0"/>
          </a:p>
        </p:txBody>
      </p:sp>
      <p:sp>
        <p:nvSpPr>
          <p:cNvPr id="8" name="Shape 6"/>
          <p:cNvSpPr/>
          <p:nvPr/>
        </p:nvSpPr>
        <p:spPr>
          <a:xfrm>
            <a:off x="548640" y="3429000"/>
            <a:ext cx="11064240" cy="1188720"/>
          </a:xfrm>
          <a:prstGeom prst="roundRect">
            <a:avLst>
              <a:gd name="adj" fmla="val 4615"/>
            </a:avLst>
          </a:prstGeom>
          <a:solidFill>
            <a:srgbClr val="F0F4F8"/>
          </a:solidFill>
          <a:ln/>
        </p:spPr>
      </p:sp>
      <p:sp>
        <p:nvSpPr>
          <p:cNvPr id="9" name="Text 7"/>
          <p:cNvSpPr txBox="1"/>
          <p:nvPr/>
        </p:nvSpPr>
        <p:spPr>
          <a:xfrm>
            <a:off x="731520" y="3538728"/>
            <a:ext cx="10698480" cy="96926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Con 'Adaptador puente', la VM se comporta como un equipo más de tu red y recibe su propia IP, así podrás conectarte a ella desde tu ordenador. La otra opción, NAT, la deja aislada y habría que configurar 'reenvío de puertos' (más lioso).</a:t>
            </a:r>
            <a:endParaRPr lang="en-US" sz="1300" dirty="0"/>
          </a:p>
        </p:txBody>
      </p:sp>
      <p:sp>
        <p:nvSpPr>
          <p:cNvPr id="10" name="Shape 8"/>
          <p:cNvSpPr/>
          <p:nvPr/>
        </p:nvSpPr>
        <p:spPr>
          <a:xfrm>
            <a:off x="548640" y="4892040"/>
            <a:ext cx="3200400" cy="365760"/>
          </a:xfrm>
          <a:prstGeom prst="roundRect">
            <a:avLst>
              <a:gd name="adj" fmla="val 50000"/>
            </a:avLst>
          </a:prstGeom>
          <a:solidFill>
            <a:srgbClr val="B7791F"/>
          </a:solidFill>
          <a:ln/>
        </p:spPr>
      </p:sp>
      <p:sp>
        <p:nvSpPr>
          <p:cNvPr id="11" name="Text 9"/>
          <p:cNvSpPr txBox="1"/>
          <p:nvPr/>
        </p:nvSpPr>
        <p:spPr>
          <a:xfrm>
            <a:off x="548640" y="48920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Instalar Ubuntu Server (1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Arrancar el instalador y la red</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17320"/>
            <a:ext cx="10972800" cy="32004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Arranca la VM (botón 'Iniciar'). Como el disco está vacío, arranca desde la ISO y aparece el instalador, en modo texto: se maneja con el teclado (flechas y Enter), no con el ratón.</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Elige idioma y distribución de teclado.</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Si ofrece actualizar el instalador, puedes continuar sin actualizar.</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Tipo de instalación: 'Ubuntu Server' (la opción normal, no la reducida).</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Red: déjala en automático. Esto se llama DHCP: la red le entrega una IP a la VM sola. ANOTA la IP que muestra la pantalla; la usarás para conectarte.</a:t>
            </a:r>
            <a:endParaRPr lang="en-US" sz="1300" dirty="0"/>
          </a:p>
        </p:txBody>
      </p:sp>
      <p:sp>
        <p:nvSpPr>
          <p:cNvPr id="8" name="Shape 6"/>
          <p:cNvSpPr/>
          <p:nvPr/>
        </p:nvSpPr>
        <p:spPr>
          <a:xfrm>
            <a:off x="594360" y="5074920"/>
            <a:ext cx="3200400" cy="365760"/>
          </a:xfrm>
          <a:prstGeom prst="roundRect">
            <a:avLst>
              <a:gd name="adj" fmla="val 50000"/>
            </a:avLst>
          </a:prstGeom>
          <a:solidFill>
            <a:srgbClr val="B7791F"/>
          </a:solidFill>
          <a:ln/>
        </p:spPr>
      </p:sp>
      <p:sp>
        <p:nvSpPr>
          <p:cNvPr id="9" name="Text 7"/>
          <p:cNvSpPr txBox="1"/>
          <p:nvPr/>
        </p:nvSpPr>
        <p:spPr>
          <a:xfrm>
            <a:off x="594360" y="507492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Instalar Ubuntu Server (2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Disco, usuario y el paso que no hay que olvidar</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17320"/>
            <a:ext cx="10972800" cy="320040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Proxy: déjalo vacío. Réplica de paquetes: por defecto.</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Disco: elige 'Usar disco entero' y confirma. Formatea el disco de 25 GB de la VM. Es imposible que toque los archivos de tu ordenador: solo existe el disco virtual.</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Perfil: escribe tu nombre, un nombre para el servidor, y crea tu USUARIO y tu CONTRASEÑA. Apúntalos: son con los que iniciarás sesión.</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Marca 'Install OpenSSH server' (con la barra espaciadora). Instala el servicio que permite conectarse por SSH; SIN esto no podrás entrar desde tu equipo.</a:t>
            </a:r>
            <a:endParaRPr lang="en-US" sz="1300" dirty="0"/>
          </a:p>
        </p:txBody>
      </p:sp>
      <p:sp>
        <p:nvSpPr>
          <p:cNvPr id="8" name="Shape 6"/>
          <p:cNvSpPr/>
          <p:nvPr/>
        </p:nvSpPr>
        <p:spPr>
          <a:xfrm>
            <a:off x="594360" y="5074920"/>
            <a:ext cx="3200400" cy="365760"/>
          </a:xfrm>
          <a:prstGeom prst="roundRect">
            <a:avLst>
              <a:gd name="adj" fmla="val 50000"/>
            </a:avLst>
          </a:prstGeom>
          <a:solidFill>
            <a:srgbClr val="B7791F"/>
          </a:solidFill>
          <a:ln/>
        </p:spPr>
      </p:sp>
      <p:sp>
        <p:nvSpPr>
          <p:cNvPr id="9" name="Text 7"/>
          <p:cNvSpPr txBox="1"/>
          <p:nvPr/>
        </p:nvSpPr>
        <p:spPr>
          <a:xfrm>
            <a:off x="594360" y="507492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Instalar Ubuntu Server (3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Terminar y reiniciar</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63040"/>
            <a:ext cx="10972800" cy="301752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Si sugiere instalar 'snaps' (programas extra), no marques ninguno.</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Empieza la instalación: espera a que termine (unos minutos).</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Cuando lo pida, elige 'Reboot Now' para reiniciar.</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Retira la ISO: en VirtualBox, quita el archivo .iso de la unidad óptica. Así, al reiniciar, la VM arranca desde el disco ya instalado y no otra vez desde el instalador.</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Tras reiniciar verás una pantalla de texto pidiendo tu usuario: el sistema ya está instalado y funcionando.</a:t>
            </a:r>
            <a:endParaRPr lang="en-US" sz="1300" dirty="0"/>
          </a:p>
        </p:txBody>
      </p:sp>
      <p:sp>
        <p:nvSpPr>
          <p:cNvPr id="8" name="Shape 6"/>
          <p:cNvSpPr/>
          <p:nvPr/>
        </p:nvSpPr>
        <p:spPr>
          <a:xfrm>
            <a:off x="594360" y="4983480"/>
            <a:ext cx="3200400" cy="365760"/>
          </a:xfrm>
          <a:prstGeom prst="roundRect">
            <a:avLst>
              <a:gd name="adj" fmla="val 50000"/>
            </a:avLst>
          </a:prstGeom>
          <a:solidFill>
            <a:srgbClr val="B7791F"/>
          </a:solidFill>
          <a:ln/>
        </p:spPr>
      </p:sp>
      <p:sp>
        <p:nvSpPr>
          <p:cNvPr id="9" name="Text 7"/>
          <p:cNvSpPr txBox="1"/>
          <p:nvPr/>
        </p:nvSpPr>
        <p:spPr>
          <a:xfrm>
            <a:off x="594360" y="498348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Procedimiento estándar (no ejecutable aquí)</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Primer acceso al servidor (1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Primero, entender quién habla con quién</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371600"/>
            <a:ext cx="11064240" cy="1371600"/>
          </a:xfrm>
          <a:prstGeom prst="roundRect">
            <a:avLst>
              <a:gd name="adj" fmla="val 4000"/>
            </a:avLst>
          </a:prstGeom>
          <a:solidFill>
            <a:srgbClr val="F0F4F8"/>
          </a:solidFill>
          <a:ln/>
        </p:spPr>
      </p:sp>
      <p:sp>
        <p:nvSpPr>
          <p:cNvPr id="8" name="Text 6"/>
          <p:cNvSpPr txBox="1"/>
          <p:nvPr/>
        </p:nvSpPr>
        <p:spPr>
          <a:xfrm>
            <a:off x="731520" y="1481328"/>
            <a:ext cx="10698480" cy="115214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Piénsalo así: el servidor es como una OFICINA donde el programa (Odoo) está funcionando. Esa oficina no tiene ventanas bonitas ni recepcionista: solo un teléfono por el que se dan instrucciones, que es la línea de comandos. 'Acceder al servidor' es coger ese teléfono. Y hay dos formas de cogerlo, pero las dos te dejan en el mismo sitio.</a:t>
            </a:r>
            <a:endParaRPr lang="en-US" sz="1300" dirty="0"/>
          </a:p>
        </p:txBody>
      </p:sp>
      <p:sp>
        <p:nvSpPr>
          <p:cNvPr id="9" name="Shape 7"/>
          <p:cNvSpPr/>
          <p:nvPr/>
        </p:nvSpPr>
        <p:spPr>
          <a:xfrm>
            <a:off x="731520" y="3246120"/>
            <a:ext cx="2834640" cy="1371600"/>
          </a:xfrm>
          <a:prstGeom prst="roundRect">
            <a:avLst>
              <a:gd name="adj" fmla="val 6667"/>
            </a:avLst>
          </a:prstGeom>
          <a:solidFill>
            <a:srgbClr val="1D3557"/>
          </a:solidFill>
          <a:ln/>
        </p:spPr>
      </p:sp>
      <p:sp>
        <p:nvSpPr>
          <p:cNvPr id="10" name="Text 8"/>
          <p:cNvSpPr txBox="1"/>
          <p:nvPr/>
        </p:nvSpPr>
        <p:spPr>
          <a:xfrm>
            <a:off x="731520" y="3383280"/>
            <a:ext cx="283464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TU ORDENADOR</a:t>
            </a:r>
            <a:endParaRPr lang="en-US" sz="1500" dirty="0"/>
          </a:p>
        </p:txBody>
      </p:sp>
      <p:sp>
        <p:nvSpPr>
          <p:cNvPr id="11" name="Text 9"/>
          <p:cNvSpPr txBox="1"/>
          <p:nvPr/>
        </p:nvSpPr>
        <p:spPr>
          <a:xfrm>
            <a:off x="731520" y="3794760"/>
            <a:ext cx="2834640" cy="731520"/>
          </a:xfrm>
          <a:prstGeom prst="rect">
            <a:avLst/>
          </a:prstGeom>
          <a:noFill/>
          <a:ln/>
        </p:spPr>
        <p:txBody>
          <a:bodyPr wrap="square" lIns="0" tIns="0" rIns="0" bIns="0" rtlCol="0" anchor="ctr"/>
          <a:lstStyle/>
          <a:p>
            <a:pPr algn="ctr" indent="0" marL="0">
              <a:buNone/>
            </a:pPr>
            <a:r>
              <a:rPr lang="en-US" sz="1200" dirty="0">
                <a:solidFill>
                  <a:srgbClr val="AEC4DA"/>
                </a:solidFill>
                <a:latin typeface="Calibri" pitchFamily="34" charset="0"/>
                <a:ea typeface="Calibri" pitchFamily="34" charset="-122"/>
                <a:cs typeface="Calibri" pitchFamily="34" charset="-120"/>
              </a:rPr>
              <a:t>abres una terminal</a:t>
            </a:r>
            <a:endParaRPr lang="en-US" sz="1200" dirty="0"/>
          </a:p>
          <a:p>
            <a:pPr algn="ctr" indent="0" marL="0">
              <a:buNone/>
            </a:pPr>
            <a:r>
              <a:rPr lang="en-US" sz="1200" dirty="0">
                <a:solidFill>
                  <a:srgbClr val="AEC4DA"/>
                </a:solidFill>
                <a:latin typeface="Calibri" pitchFamily="34" charset="0"/>
                <a:ea typeface="Calibri" pitchFamily="34" charset="-122"/>
                <a:cs typeface="Calibri" pitchFamily="34" charset="-120"/>
              </a:rPr>
              <a:t>y te conectas</a:t>
            </a:r>
            <a:endParaRPr lang="en-US" sz="1200" dirty="0"/>
          </a:p>
        </p:txBody>
      </p:sp>
      <p:sp>
        <p:nvSpPr>
          <p:cNvPr id="12" name="Shape 10"/>
          <p:cNvSpPr/>
          <p:nvPr/>
        </p:nvSpPr>
        <p:spPr>
          <a:xfrm>
            <a:off x="3657600" y="3931920"/>
            <a:ext cx="2194560" cy="0"/>
          </a:xfrm>
          <a:prstGeom prst="line">
            <a:avLst/>
          </a:prstGeom>
          <a:noFill/>
          <a:ln w="38100">
            <a:solidFill>
              <a:srgbClr val="2B6CB0"/>
            </a:solidFill>
            <a:prstDash val="solid"/>
            <a:tailEnd type="triangle"/>
          </a:ln>
        </p:spPr>
      </p:sp>
      <p:sp>
        <p:nvSpPr>
          <p:cNvPr id="13" name="Text 11"/>
          <p:cNvSpPr txBox="1"/>
          <p:nvPr/>
        </p:nvSpPr>
        <p:spPr>
          <a:xfrm>
            <a:off x="3657600" y="3429000"/>
            <a:ext cx="2194560" cy="320040"/>
          </a:xfrm>
          <a:prstGeom prst="rect">
            <a:avLst/>
          </a:prstGeom>
          <a:noFill/>
          <a:ln/>
        </p:spPr>
        <p:txBody>
          <a:bodyPr wrap="square" lIns="0" tIns="0" rIns="0" bIns="0" rtlCol="0" anchor="ctr"/>
          <a:lstStyle/>
          <a:p>
            <a:pPr algn="ctr" indent="0" marL="0">
              <a:buNone/>
            </a:pPr>
            <a:r>
              <a:rPr lang="en-US" sz="1300" b="1" dirty="0">
                <a:solidFill>
                  <a:srgbClr val="2B6CB0"/>
                </a:solidFill>
                <a:latin typeface="Calibri" pitchFamily="34" charset="0"/>
                <a:ea typeface="Calibri" pitchFamily="34" charset="-122"/>
                <a:cs typeface="Calibri" pitchFamily="34" charset="-120"/>
              </a:rPr>
              <a:t>SSH</a:t>
            </a:r>
            <a:endParaRPr lang="en-US" sz="1300" dirty="0"/>
          </a:p>
        </p:txBody>
      </p:sp>
      <p:sp>
        <p:nvSpPr>
          <p:cNvPr id="14" name="Text 12"/>
          <p:cNvSpPr txBox="1"/>
          <p:nvPr/>
        </p:nvSpPr>
        <p:spPr>
          <a:xfrm>
            <a:off x="3566160" y="4069080"/>
            <a:ext cx="2377440" cy="320040"/>
          </a:xfrm>
          <a:prstGeom prst="rect">
            <a:avLst/>
          </a:prstGeom>
          <a:noFill/>
          <a:ln/>
        </p:spPr>
        <p:txBody>
          <a:bodyPr wrap="square" lIns="0" tIns="0" rIns="0" bIns="0" rtlCol="0" anchor="ctr"/>
          <a:lstStyle/>
          <a:p>
            <a:pPr algn="ctr" indent="0" marL="0">
              <a:buNone/>
            </a:pPr>
            <a:r>
              <a:rPr lang="en-US" sz="1000" i="1" dirty="0">
                <a:solidFill>
                  <a:srgbClr val="5A6B7B"/>
                </a:solidFill>
                <a:latin typeface="Calibri" pitchFamily="34" charset="0"/>
                <a:ea typeface="Calibri" pitchFamily="34" charset="-122"/>
                <a:cs typeface="Calibri" pitchFamily="34" charset="-120"/>
              </a:rPr>
              <a:t>por la red, con la IP</a:t>
            </a:r>
            <a:endParaRPr lang="en-US" sz="1000" dirty="0"/>
          </a:p>
        </p:txBody>
      </p:sp>
      <p:sp>
        <p:nvSpPr>
          <p:cNvPr id="15" name="Shape 13"/>
          <p:cNvSpPr/>
          <p:nvPr/>
        </p:nvSpPr>
        <p:spPr>
          <a:xfrm>
            <a:off x="5943600" y="2697480"/>
            <a:ext cx="5577840" cy="2514600"/>
          </a:xfrm>
          <a:prstGeom prst="roundRect">
            <a:avLst>
              <a:gd name="adj" fmla="val 3636"/>
            </a:avLst>
          </a:prstGeom>
          <a:solidFill>
            <a:srgbClr val="F0F4F8"/>
          </a:solidFill>
          <a:ln w="19050">
            <a:solidFill>
              <a:srgbClr val="1D3557"/>
            </a:solidFill>
            <a:prstDash val="solid"/>
          </a:ln>
        </p:spPr>
      </p:sp>
      <p:sp>
        <p:nvSpPr>
          <p:cNvPr id="16" name="Text 14"/>
          <p:cNvSpPr txBox="1"/>
          <p:nvPr/>
        </p:nvSpPr>
        <p:spPr>
          <a:xfrm>
            <a:off x="6035040" y="2834640"/>
            <a:ext cx="5394960" cy="365760"/>
          </a:xfrm>
          <a:prstGeom prst="rect">
            <a:avLst/>
          </a:prstGeom>
          <a:noFill/>
          <a:ln/>
        </p:spPr>
        <p:txBody>
          <a:bodyPr wrap="square" lIns="0" tIns="0" rIns="0" bIns="0" rtlCol="0" anchor="ctr"/>
          <a:lstStyle/>
          <a:p>
            <a:pPr algn="ctr" indent="0" marL="0">
              <a:buNone/>
            </a:pPr>
            <a:r>
              <a:rPr lang="en-US" sz="1400" b="1" dirty="0">
                <a:solidFill>
                  <a:srgbClr val="1D3557"/>
                </a:solidFill>
                <a:latin typeface="Calibri" pitchFamily="34" charset="0"/>
                <a:ea typeface="Calibri" pitchFamily="34" charset="-122"/>
                <a:cs typeface="Calibri" pitchFamily="34" charset="-120"/>
              </a:rPr>
              <a:t>EL SERVIDOR  =  la máquina virtual</a:t>
            </a:r>
            <a:endParaRPr lang="en-US" sz="1400" dirty="0"/>
          </a:p>
        </p:txBody>
      </p:sp>
      <p:sp>
        <p:nvSpPr>
          <p:cNvPr id="17" name="Shape 15"/>
          <p:cNvSpPr/>
          <p:nvPr/>
        </p:nvSpPr>
        <p:spPr>
          <a:xfrm>
            <a:off x="6172200" y="3291840"/>
            <a:ext cx="5120640" cy="530352"/>
          </a:xfrm>
          <a:prstGeom prst="roundRect">
            <a:avLst>
              <a:gd name="adj" fmla="val 10345"/>
            </a:avLst>
          </a:prstGeom>
          <a:solidFill>
            <a:srgbClr val="FFFFFF"/>
          </a:solidFill>
          <a:ln/>
        </p:spPr>
      </p:sp>
      <p:sp>
        <p:nvSpPr>
          <p:cNvPr id="18" name="Text 16"/>
          <p:cNvSpPr txBox="1"/>
          <p:nvPr/>
        </p:nvSpPr>
        <p:spPr>
          <a:xfrm>
            <a:off x="6309360" y="3291840"/>
            <a:ext cx="4846320" cy="530352"/>
          </a:xfrm>
          <a:prstGeom prst="rect">
            <a:avLst/>
          </a:prstGeom>
          <a:noFill/>
          <a:ln/>
        </p:spPr>
        <p:txBody>
          <a:bodyPr wrap="square" lIns="0" tIns="0" rIns="0" bIns="0" rtlCol="0" anchor="ctr"/>
          <a:lstStyle/>
          <a:p>
            <a:pPr indent="0" marL="0">
              <a:buNone/>
            </a:pPr>
            <a:r>
              <a:rPr lang="en-US" sz="1250" b="1" dirty="0">
                <a:solidFill>
                  <a:srgbClr val="1D3557"/>
                </a:solidFill>
                <a:latin typeface="Courier New" pitchFamily="34" charset="0"/>
                <a:ea typeface="Courier New" pitchFamily="34" charset="-122"/>
                <a:cs typeface="Courier New" pitchFamily="34" charset="-120"/>
              </a:rPr>
              <a:t>Terminal  </a:t>
            </a:r>
            <a:pPr indent="0" marL="0">
              <a:buNone/>
            </a:pPr>
            <a:r>
              <a:rPr lang="en-US" sz="1150" dirty="0">
                <a:solidFill>
                  <a:srgbClr val="1A202C"/>
                </a:solidFill>
                <a:latin typeface="Calibri" pitchFamily="34" charset="0"/>
                <a:ea typeface="Calibri" pitchFamily="34" charset="-122"/>
                <a:cs typeface="Calibri" pitchFamily="34" charset="-120"/>
              </a:rPr>
              <a:t>la línea de comandos donde escribes las órdenes</a:t>
            </a:r>
            <a:endParaRPr lang="en-US" sz="1250" dirty="0"/>
          </a:p>
        </p:txBody>
      </p:sp>
      <p:sp>
        <p:nvSpPr>
          <p:cNvPr id="19" name="Shape 17"/>
          <p:cNvSpPr/>
          <p:nvPr/>
        </p:nvSpPr>
        <p:spPr>
          <a:xfrm>
            <a:off x="6172200" y="3895344"/>
            <a:ext cx="5120640" cy="530352"/>
          </a:xfrm>
          <a:prstGeom prst="roundRect">
            <a:avLst>
              <a:gd name="adj" fmla="val 10345"/>
            </a:avLst>
          </a:prstGeom>
          <a:solidFill>
            <a:srgbClr val="FFFFFF"/>
          </a:solidFill>
          <a:ln/>
        </p:spPr>
      </p:sp>
      <p:sp>
        <p:nvSpPr>
          <p:cNvPr id="20" name="Text 18"/>
          <p:cNvSpPr txBox="1"/>
          <p:nvPr/>
        </p:nvSpPr>
        <p:spPr>
          <a:xfrm>
            <a:off x="6309360" y="3895344"/>
            <a:ext cx="4846320" cy="530352"/>
          </a:xfrm>
          <a:prstGeom prst="rect">
            <a:avLst/>
          </a:prstGeom>
          <a:noFill/>
          <a:ln/>
        </p:spPr>
        <p:txBody>
          <a:bodyPr wrap="square" lIns="0" tIns="0" rIns="0" bIns="0" rtlCol="0" anchor="ctr"/>
          <a:lstStyle/>
          <a:p>
            <a:pPr indent="0" marL="0">
              <a:buNone/>
            </a:pPr>
            <a:r>
              <a:rPr lang="en-US" sz="1250" b="1" dirty="0">
                <a:solidFill>
                  <a:srgbClr val="1D3557"/>
                </a:solidFill>
                <a:latin typeface="Courier New" pitchFamily="34" charset="0"/>
                <a:ea typeface="Courier New" pitchFamily="34" charset="-122"/>
                <a:cs typeface="Courier New" pitchFamily="34" charset="-120"/>
              </a:rPr>
              <a:t>Odoo  </a:t>
            </a:r>
            <a:pPr indent="0" marL="0">
              <a:buNone/>
            </a:pPr>
            <a:r>
              <a:rPr lang="en-US" sz="1150" dirty="0">
                <a:solidFill>
                  <a:srgbClr val="1A202C"/>
                </a:solidFill>
                <a:latin typeface="Calibri" pitchFamily="34" charset="0"/>
                <a:ea typeface="Calibri" pitchFamily="34" charset="-122"/>
                <a:cs typeface="Calibri" pitchFamily="34" charset="-120"/>
              </a:rPr>
              <a:t>el programa, en el puerto 8069</a:t>
            </a:r>
            <a:endParaRPr lang="en-US" sz="1250" dirty="0"/>
          </a:p>
        </p:txBody>
      </p:sp>
      <p:sp>
        <p:nvSpPr>
          <p:cNvPr id="21" name="Shape 19"/>
          <p:cNvSpPr/>
          <p:nvPr/>
        </p:nvSpPr>
        <p:spPr>
          <a:xfrm>
            <a:off x="6172200" y="4498848"/>
            <a:ext cx="5120640" cy="530352"/>
          </a:xfrm>
          <a:prstGeom prst="roundRect">
            <a:avLst>
              <a:gd name="adj" fmla="val 10345"/>
            </a:avLst>
          </a:prstGeom>
          <a:solidFill>
            <a:srgbClr val="FFFFFF"/>
          </a:solidFill>
          <a:ln/>
        </p:spPr>
      </p:sp>
      <p:sp>
        <p:nvSpPr>
          <p:cNvPr id="22" name="Text 20"/>
          <p:cNvSpPr txBox="1"/>
          <p:nvPr/>
        </p:nvSpPr>
        <p:spPr>
          <a:xfrm>
            <a:off x="6309360" y="4498848"/>
            <a:ext cx="4846320" cy="530352"/>
          </a:xfrm>
          <a:prstGeom prst="rect">
            <a:avLst/>
          </a:prstGeom>
          <a:noFill/>
          <a:ln/>
        </p:spPr>
        <p:txBody>
          <a:bodyPr wrap="square" lIns="0" tIns="0" rIns="0" bIns="0" rtlCol="0" anchor="ctr"/>
          <a:lstStyle/>
          <a:p>
            <a:pPr indent="0" marL="0">
              <a:buNone/>
            </a:pPr>
            <a:r>
              <a:rPr lang="en-US" sz="1250" b="1" dirty="0">
                <a:solidFill>
                  <a:srgbClr val="1D3557"/>
                </a:solidFill>
                <a:latin typeface="Courier New" pitchFamily="34" charset="0"/>
                <a:ea typeface="Courier New" pitchFamily="34" charset="-122"/>
                <a:cs typeface="Courier New" pitchFamily="34" charset="-120"/>
              </a:rPr>
              <a:t>PostgreSQL  </a:t>
            </a:r>
            <a:pPr indent="0" marL="0">
              <a:buNone/>
            </a:pPr>
            <a:r>
              <a:rPr lang="en-US" sz="1150" dirty="0">
                <a:solidFill>
                  <a:srgbClr val="1A202C"/>
                </a:solidFill>
                <a:latin typeface="Calibri" pitchFamily="34" charset="0"/>
                <a:ea typeface="Calibri" pitchFamily="34" charset="-122"/>
                <a:cs typeface="Calibri" pitchFamily="34" charset="-120"/>
              </a:rPr>
              <a:t>la base de datos</a:t>
            </a:r>
            <a:endParaRPr lang="en-US" sz="1250" dirty="0"/>
          </a:p>
        </p:txBody>
      </p:sp>
      <p:sp>
        <p:nvSpPr>
          <p:cNvPr id="23" name="Text 21"/>
          <p:cNvSpPr txBox="1"/>
          <p:nvPr/>
        </p:nvSpPr>
        <p:spPr>
          <a:xfrm>
            <a:off x="548640" y="5394960"/>
            <a:ext cx="11064240" cy="640080"/>
          </a:xfrm>
          <a:prstGeom prst="rect">
            <a:avLst/>
          </a:prstGeom>
          <a:noFill/>
          <a:ln/>
        </p:spPr>
        <p:txBody>
          <a:bodyPr wrap="square" lIns="0" tIns="0" rIns="0" bIns="0" rtlCol="0" anchor="ctr"/>
          <a:lstStyle/>
          <a:p>
            <a:pPr indent="0" marL="0">
              <a:buNone/>
            </a:pPr>
            <a:r>
              <a:rPr lang="en-US" sz="1250" i="1" dirty="0">
                <a:solidFill>
                  <a:srgbClr val="5A6B7B"/>
                </a:solidFill>
                <a:latin typeface="Calibri" pitchFamily="34" charset="0"/>
                <a:ea typeface="Calibri" pitchFamily="34" charset="-122"/>
                <a:cs typeface="Calibri" pitchFamily="34" charset="-120"/>
              </a:rPr>
              <a:t>La otra forma de acceder: teclear directamente en la ventana de la VM (ir 'en persona' a la oficina). Por SSH es más cómodo: puedes copiar y pegar.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Primer acceso al servidor (2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Iniciar sesión y averiguar la IP (el 'número de teléfono')</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94360" y="1417320"/>
            <a:ext cx="10972800" cy="1371600"/>
          </a:xfrm>
          <a:prstGeom prst="rect">
            <a:avLst/>
          </a:prstGeom>
          <a:noFill/>
          <a:ln/>
        </p:spPr>
        <p:txBody>
          <a:bodyPr wrap="square" lIns="0" tIns="0" rIns="0" bIns="0" rtlCol="0" anchor="t"/>
          <a:lstStyle/>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En la ventana de la VM aparece una pantalla de texto que pide tu usuario: es el servidor ya arrancado, esperando.</a:t>
            </a:r>
            <a:endParaRPr lang="en-US" sz="1400" dirty="0"/>
          </a:p>
          <a:p>
            <a:pPr marL="190500" indent="-190500">
              <a:spcAft>
                <a:spcPts val="600"/>
              </a:spcAft>
              <a:buSzPct val="100000"/>
              <a:buChar char="•"/>
            </a:pPr>
            <a:r>
              <a:rPr lang="en-US" sz="1400" dirty="0">
                <a:solidFill>
                  <a:srgbClr val="1A202C"/>
                </a:solidFill>
                <a:latin typeface="Calibri" pitchFamily="34" charset="0"/>
                <a:ea typeface="Calibri" pitchFamily="34" charset="-122"/>
                <a:cs typeface="Calibri" pitchFamily="34" charset="-120"/>
              </a:rPr>
              <a:t>Inicia sesión con el usuario y la contraseña que creaste al instalar. Ya estás en la línea de comandos del servidor.</a:t>
            </a:r>
            <a:endParaRPr lang="en-US" sz="1400" dirty="0"/>
          </a:p>
        </p:txBody>
      </p:sp>
      <p:sp>
        <p:nvSpPr>
          <p:cNvPr id="8" name="Shape 6"/>
          <p:cNvSpPr/>
          <p:nvPr/>
        </p:nvSpPr>
        <p:spPr>
          <a:xfrm>
            <a:off x="548640" y="3063240"/>
            <a:ext cx="6766560" cy="1554480"/>
          </a:xfrm>
          <a:prstGeom prst="roundRect">
            <a:avLst>
              <a:gd name="adj" fmla="val 4706"/>
            </a:avLst>
          </a:prstGeom>
          <a:solidFill>
            <a:srgbClr val="1A202C"/>
          </a:solidFill>
          <a:ln/>
        </p:spPr>
      </p:sp>
      <p:sp>
        <p:nvSpPr>
          <p:cNvPr id="9" name="Text 7"/>
          <p:cNvSpPr txBox="1"/>
          <p:nvPr/>
        </p:nvSpPr>
        <p:spPr>
          <a:xfrm>
            <a:off x="685800" y="3136392"/>
            <a:ext cx="649224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Ver la dirección del servidor</a:t>
            </a:r>
            <a:endParaRPr lang="en-US" sz="1000" dirty="0"/>
          </a:p>
        </p:txBody>
      </p:sp>
      <p:sp>
        <p:nvSpPr>
          <p:cNvPr id="10" name="Text 8"/>
          <p:cNvSpPr txBox="1"/>
          <p:nvPr/>
        </p:nvSpPr>
        <p:spPr>
          <a:xfrm>
            <a:off x="685800" y="3429000"/>
            <a:ext cx="6492240" cy="109728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escribe este comando para ver la IP del servidor:</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ip a</a:t>
            </a: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busca una línea 'inet' con una IP tipo 192.168.1.50</a:t>
            </a:r>
            <a:endParaRPr lang="en-US" sz="1250" dirty="0"/>
          </a:p>
        </p:txBody>
      </p:sp>
      <p:sp>
        <p:nvSpPr>
          <p:cNvPr id="11" name="Shape 9"/>
          <p:cNvSpPr/>
          <p:nvPr/>
        </p:nvSpPr>
        <p:spPr>
          <a:xfrm>
            <a:off x="7498080" y="3063240"/>
            <a:ext cx="4114800" cy="1554480"/>
          </a:xfrm>
          <a:prstGeom prst="roundRect">
            <a:avLst>
              <a:gd name="adj" fmla="val 3529"/>
            </a:avLst>
          </a:prstGeom>
          <a:solidFill>
            <a:srgbClr val="F0F4F8"/>
          </a:solidFill>
          <a:ln/>
        </p:spPr>
      </p:sp>
      <p:sp>
        <p:nvSpPr>
          <p:cNvPr id="12" name="Text 10"/>
          <p:cNvSpPr txBox="1"/>
          <p:nvPr/>
        </p:nvSpPr>
        <p:spPr>
          <a:xfrm>
            <a:off x="7680960" y="3172968"/>
            <a:ext cx="3749040" cy="133502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La IP es la dirección del servidor en la red: su 'número de teléfono'. Apúntala; es lo que escribirás para llamarlo desde tu ordenador en el paso siguiente.</a:t>
            </a:r>
            <a:endParaRPr lang="en-US" sz="1300" dirty="0"/>
          </a:p>
        </p:txBody>
      </p:sp>
      <p:sp>
        <p:nvSpPr>
          <p:cNvPr id="13" name="Shape 11"/>
          <p:cNvSpPr/>
          <p:nvPr/>
        </p:nvSpPr>
        <p:spPr>
          <a:xfrm>
            <a:off x="548640" y="4937760"/>
            <a:ext cx="3200400" cy="365760"/>
          </a:xfrm>
          <a:prstGeom prst="roundRect">
            <a:avLst>
              <a:gd name="adj" fmla="val 50000"/>
            </a:avLst>
          </a:prstGeom>
          <a:solidFill>
            <a:srgbClr val="2F855A"/>
          </a:solidFill>
          <a:ln/>
        </p:spPr>
      </p:sp>
      <p:sp>
        <p:nvSpPr>
          <p:cNvPr id="14" name="Text 12"/>
          <p:cNvSpPr txBox="1"/>
          <p:nvPr/>
        </p:nvSpPr>
        <p:spPr>
          <a:xfrm>
            <a:off x="548640" y="493776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ip a muestra la IP</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Primer acceso al servidor (3 de 3)</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Llamar al servidor desde tu ordenador: SSH</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371600"/>
            <a:ext cx="11064240" cy="1280160"/>
          </a:xfrm>
          <a:prstGeom prst="roundRect">
            <a:avLst>
              <a:gd name="adj" fmla="val 4286"/>
            </a:avLst>
          </a:prstGeom>
          <a:solidFill>
            <a:srgbClr val="F0F4F8"/>
          </a:solidFill>
          <a:ln/>
        </p:spPr>
      </p:sp>
      <p:sp>
        <p:nvSpPr>
          <p:cNvPr id="8" name="Text 6"/>
          <p:cNvSpPr txBox="1"/>
          <p:nvPr/>
        </p:nvSpPr>
        <p:spPr>
          <a:xfrm>
            <a:off x="731520" y="1481328"/>
            <a:ext cx="10698480" cy="106070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SSH es 'la llamada de teléfono': un programa que te mete en la línea de comandos del servidor a distancia, desde una terminal de TU propio ordenador, de forma segura. Le das el usuario y la IP (el número), pones la contraseña, y ya estás dentro.</a:t>
            </a:r>
            <a:endParaRPr lang="en-US" sz="1300" dirty="0"/>
          </a:p>
        </p:txBody>
      </p:sp>
      <p:sp>
        <p:nvSpPr>
          <p:cNvPr id="9" name="Shape 7"/>
          <p:cNvSpPr/>
          <p:nvPr/>
        </p:nvSpPr>
        <p:spPr>
          <a:xfrm>
            <a:off x="548640" y="2880360"/>
            <a:ext cx="11064240" cy="1737360"/>
          </a:xfrm>
          <a:prstGeom prst="roundRect">
            <a:avLst>
              <a:gd name="adj" fmla="val 4211"/>
            </a:avLst>
          </a:prstGeom>
          <a:solidFill>
            <a:srgbClr val="1A202C"/>
          </a:solidFill>
          <a:ln/>
        </p:spPr>
      </p:sp>
      <p:sp>
        <p:nvSpPr>
          <p:cNvPr id="10" name="Text 8"/>
          <p:cNvSpPr txBox="1"/>
          <p:nvPr/>
        </p:nvSpPr>
        <p:spPr>
          <a:xfrm>
            <a:off x="685800" y="29535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Conectarse por SSH</a:t>
            </a:r>
            <a:endParaRPr lang="en-US" sz="1000" dirty="0"/>
          </a:p>
        </p:txBody>
      </p:sp>
      <p:sp>
        <p:nvSpPr>
          <p:cNvPr id="11" name="Text 9"/>
          <p:cNvSpPr txBox="1"/>
          <p:nvPr/>
        </p:nvSpPr>
        <p:spPr>
          <a:xfrm>
            <a:off x="685800" y="3246120"/>
            <a:ext cx="10789920" cy="128016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en una terminal de TU ordenador (no en la ventana de la VM):</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ssh tu_usuario@192.168.1.50</a:t>
            </a: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te pide la contraseña; al aceptarla, estás DENTRO del servidor</a:t>
            </a:r>
            <a:endParaRPr lang="en-US" sz="1250" dirty="0"/>
          </a:p>
        </p:txBody>
      </p:sp>
      <p:sp>
        <p:nvSpPr>
          <p:cNvPr id="12" name="Shape 10"/>
          <p:cNvSpPr/>
          <p:nvPr/>
        </p:nvSpPr>
        <p:spPr>
          <a:xfrm>
            <a:off x="548640" y="4800600"/>
            <a:ext cx="8686800" cy="914400"/>
          </a:xfrm>
          <a:prstGeom prst="roundRect">
            <a:avLst>
              <a:gd name="adj" fmla="val 6000"/>
            </a:avLst>
          </a:prstGeom>
          <a:solidFill>
            <a:srgbClr val="F0F4F8"/>
          </a:solidFill>
          <a:ln/>
        </p:spPr>
      </p:sp>
      <p:sp>
        <p:nvSpPr>
          <p:cNvPr id="13" name="Text 11"/>
          <p:cNvSpPr txBox="1"/>
          <p:nvPr/>
        </p:nvSpPr>
        <p:spPr>
          <a:xfrm>
            <a:off x="731520" y="4910328"/>
            <a:ext cx="8321040" cy="69494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A partir de aquí, cada comando se ejecuta EN el servidor: todo el despliegue de Odoo (Paso 1 en adelante) se hace en esta conexión. Es lo mismo que teclear en la ventana de la VM, pero puedes copiar y pegar.</a:t>
            </a:r>
            <a:endParaRPr lang="en-US" sz="1300" dirty="0"/>
          </a:p>
        </p:txBody>
      </p:sp>
      <p:sp>
        <p:nvSpPr>
          <p:cNvPr id="14" name="Shape 12"/>
          <p:cNvSpPr/>
          <p:nvPr/>
        </p:nvSpPr>
        <p:spPr>
          <a:xfrm>
            <a:off x="9464040" y="4892040"/>
            <a:ext cx="3200400" cy="365760"/>
          </a:xfrm>
          <a:prstGeom prst="roundRect">
            <a:avLst>
              <a:gd name="adj" fmla="val 50000"/>
            </a:avLst>
          </a:prstGeom>
          <a:solidFill>
            <a:srgbClr val="B7791F"/>
          </a:solidFill>
          <a:ln/>
        </p:spPr>
      </p:sp>
      <p:sp>
        <p:nvSpPr>
          <p:cNvPr id="15" name="Text 13"/>
          <p:cNvSpPr txBox="1"/>
          <p:nvPr/>
        </p:nvSpPr>
        <p:spPr>
          <a:xfrm>
            <a:off x="9464040" y="48920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ssh: cliente estándar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P1</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Actualizar el sistema</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Partir de un sistema al día</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554480"/>
            <a:ext cx="8046720" cy="1371600"/>
          </a:xfrm>
          <a:prstGeom prst="roundRect">
            <a:avLst>
              <a:gd name="adj" fmla="val 5333"/>
            </a:avLst>
          </a:prstGeom>
          <a:solidFill>
            <a:srgbClr val="1A202C"/>
          </a:solidFill>
          <a:ln/>
        </p:spPr>
      </p:sp>
      <p:sp>
        <p:nvSpPr>
          <p:cNvPr id="8" name="Text 6"/>
          <p:cNvSpPr txBox="1"/>
          <p:nvPr/>
        </p:nvSpPr>
        <p:spPr>
          <a:xfrm>
            <a:off x="685800" y="1627632"/>
            <a:ext cx="777240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Actualizar índices y paquetes</a:t>
            </a:r>
            <a:endParaRPr lang="en-US" sz="1000" dirty="0"/>
          </a:p>
        </p:txBody>
      </p:sp>
      <p:sp>
        <p:nvSpPr>
          <p:cNvPr id="9" name="Text 7"/>
          <p:cNvSpPr txBox="1"/>
          <p:nvPr/>
        </p:nvSpPr>
        <p:spPr>
          <a:xfrm>
            <a:off x="685800" y="1920240"/>
            <a:ext cx="7772400" cy="91440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apt update &amp;&amp; sudo apt upgrade -y</a:t>
            </a:r>
            <a:endParaRPr lang="en-US" sz="1250" dirty="0"/>
          </a:p>
        </p:txBody>
      </p:sp>
      <p:sp>
        <p:nvSpPr>
          <p:cNvPr id="10" name="Shape 8"/>
          <p:cNvSpPr/>
          <p:nvPr/>
        </p:nvSpPr>
        <p:spPr>
          <a:xfrm>
            <a:off x="548640" y="3108960"/>
            <a:ext cx="11064240" cy="1005840"/>
          </a:xfrm>
          <a:prstGeom prst="roundRect">
            <a:avLst>
              <a:gd name="adj" fmla="val 5455"/>
            </a:avLst>
          </a:prstGeom>
          <a:solidFill>
            <a:srgbClr val="F0F4F8"/>
          </a:solidFill>
          <a:ln/>
        </p:spPr>
      </p:sp>
      <p:sp>
        <p:nvSpPr>
          <p:cNvPr id="11" name="Text 9"/>
          <p:cNvSpPr txBox="1"/>
          <p:nvPr/>
        </p:nvSpPr>
        <p:spPr>
          <a:xfrm>
            <a:off x="731520" y="321868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apt update refresca la lista de paquetes disponibles; apt upgrade instala las versiones nuevas de los que ya tienes. Es el primer paso en cualquier instalación sobre Ubuntu: evita arrastrar versiones viejas con fallos ya corregidos.</a:t>
            </a:r>
            <a:endParaRPr lang="en-US" sz="1300" dirty="0"/>
          </a:p>
        </p:txBody>
      </p:sp>
      <p:sp>
        <p:nvSpPr>
          <p:cNvPr id="12" name="Shape 10"/>
          <p:cNvSpPr/>
          <p:nvPr/>
        </p:nvSpPr>
        <p:spPr>
          <a:xfrm>
            <a:off x="548640" y="4572000"/>
            <a:ext cx="3200400" cy="365760"/>
          </a:xfrm>
          <a:prstGeom prst="roundRect">
            <a:avLst>
              <a:gd name="adj" fmla="val 50000"/>
            </a:avLst>
          </a:prstGeom>
          <a:solidFill>
            <a:srgbClr val="2F855A"/>
          </a:solidFill>
          <a:ln/>
        </p:spPr>
      </p:sp>
      <p:sp>
        <p:nvSpPr>
          <p:cNvPr id="13" name="Text 11"/>
          <p:cNvSpPr txBox="1"/>
          <p:nvPr/>
        </p:nvSpPr>
        <p:spPr>
          <a:xfrm>
            <a:off x="548640" y="457200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en Ubuntu 24.04</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P2</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Instalar las dependencias del sistema</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PostgreSQL y las librerías para compilar</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508760"/>
            <a:ext cx="11064240" cy="2468880"/>
          </a:xfrm>
          <a:prstGeom prst="roundRect">
            <a:avLst>
              <a:gd name="adj" fmla="val 2963"/>
            </a:avLst>
          </a:prstGeom>
          <a:solidFill>
            <a:srgbClr val="1A202C"/>
          </a:solidFill>
          <a:ln/>
        </p:spPr>
      </p:sp>
      <p:sp>
        <p:nvSpPr>
          <p:cNvPr id="8" name="Text 6"/>
          <p:cNvSpPr txBox="1"/>
          <p:nvPr/>
        </p:nvSpPr>
        <p:spPr>
          <a:xfrm>
            <a:off x="685800" y="15819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Un solo comando (la barra \ divide líneas)</a:t>
            </a:r>
            <a:endParaRPr lang="en-US" sz="1000" dirty="0"/>
          </a:p>
        </p:txBody>
      </p:sp>
      <p:sp>
        <p:nvSpPr>
          <p:cNvPr id="9" name="Text 7"/>
          <p:cNvSpPr txBox="1"/>
          <p:nvPr/>
        </p:nvSpPr>
        <p:spPr>
          <a:xfrm>
            <a:off x="685800" y="1874520"/>
            <a:ext cx="10789920" cy="201168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apt install -y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postgresql postgresql-client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build-essential python3-dev python3-venv python3-pip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libpq-dev libxml2-dev libxslt1-dev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libldap2-dev libsasl2-dev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libjpeg-dev zlib1g-dev libssl-dev libffi-dev</a:t>
            </a:r>
            <a:endParaRPr lang="en-US" sz="1250" dirty="0"/>
          </a:p>
        </p:txBody>
      </p:sp>
      <p:sp>
        <p:nvSpPr>
          <p:cNvPr id="10" name="Shape 8"/>
          <p:cNvSpPr/>
          <p:nvPr/>
        </p:nvSpPr>
        <p:spPr>
          <a:xfrm>
            <a:off x="548640" y="4160520"/>
            <a:ext cx="11064240" cy="1005840"/>
          </a:xfrm>
          <a:prstGeom prst="roundRect">
            <a:avLst>
              <a:gd name="adj" fmla="val 5455"/>
            </a:avLst>
          </a:prstGeom>
          <a:solidFill>
            <a:srgbClr val="F0F4F8"/>
          </a:solidFill>
          <a:ln/>
        </p:spPr>
      </p:sp>
      <p:sp>
        <p:nvSpPr>
          <p:cNvPr id="11" name="Text 9"/>
          <p:cNvSpPr txBox="1"/>
          <p:nvPr/>
        </p:nvSpPr>
        <p:spPr>
          <a:xfrm>
            <a:off x="731520" y="427024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postgresql es la base de datos. El resto son librerías que Python necesita para COMPILAR algunas dependencias de Odoo: libpq (conexión a Postgres), libxml/libxslt (procesar XML), libldap/libsasl (autenticación), libjpeg/zlib (imágenes). Sin ellas, la instalación de dependencias del Paso 6 falla.</a:t>
            </a:r>
            <a:endParaRPr lang="en-US" sz="1300" dirty="0"/>
          </a:p>
        </p:txBody>
      </p:sp>
      <p:sp>
        <p:nvSpPr>
          <p:cNvPr id="12" name="Shape 10"/>
          <p:cNvSpPr/>
          <p:nvPr/>
        </p:nvSpPr>
        <p:spPr>
          <a:xfrm>
            <a:off x="548640" y="5349240"/>
            <a:ext cx="3200400" cy="365760"/>
          </a:xfrm>
          <a:prstGeom prst="roundRect">
            <a:avLst>
              <a:gd name="adj" fmla="val 50000"/>
            </a:avLst>
          </a:prstGeom>
          <a:solidFill>
            <a:srgbClr val="2F855A"/>
          </a:solidFill>
          <a:ln/>
        </p:spPr>
      </p:sp>
      <p:sp>
        <p:nvSpPr>
          <p:cNvPr id="13" name="Text 11"/>
          <p:cNvSpPr txBox="1"/>
          <p:nvPr/>
        </p:nvSpPr>
        <p:spPr>
          <a:xfrm>
            <a:off x="548640" y="53492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todo instala y compila</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P3</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Preparar PostgreSQL</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Arrancar el servicio y crear el usuario de base de datos</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508760"/>
            <a:ext cx="11064240" cy="2286000"/>
          </a:xfrm>
          <a:prstGeom prst="roundRect">
            <a:avLst>
              <a:gd name="adj" fmla="val 3200"/>
            </a:avLst>
          </a:prstGeom>
          <a:solidFill>
            <a:srgbClr val="1A202C"/>
          </a:solidFill>
          <a:ln/>
        </p:spPr>
      </p:sp>
      <p:sp>
        <p:nvSpPr>
          <p:cNvPr id="8" name="Text 6"/>
          <p:cNvSpPr txBox="1"/>
          <p:nvPr/>
        </p:nvSpPr>
        <p:spPr>
          <a:xfrm>
            <a:off x="685800" y="15819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Servicio + rol de base de datos</a:t>
            </a:r>
            <a:endParaRPr lang="en-US" sz="1000" dirty="0"/>
          </a:p>
        </p:txBody>
      </p:sp>
      <p:sp>
        <p:nvSpPr>
          <p:cNvPr id="9" name="Text 7"/>
          <p:cNvSpPr txBox="1"/>
          <p:nvPr/>
        </p:nvSpPr>
        <p:spPr>
          <a:xfrm>
            <a:off x="685800" y="1874520"/>
            <a:ext cx="10789920" cy="182880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arrancar y habilitar el servicio</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systemctl enable --now postgresql</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crear el usuario de BD que usará Odoo</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-u postgres psql -c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"CREATE USER odoo WITH CREATEDB PASSWORD 'odoo';"</a:t>
            </a:r>
            <a:endParaRPr lang="en-US" sz="1250" dirty="0"/>
          </a:p>
        </p:txBody>
      </p:sp>
      <p:sp>
        <p:nvSpPr>
          <p:cNvPr id="10" name="Shape 8"/>
          <p:cNvSpPr/>
          <p:nvPr/>
        </p:nvSpPr>
        <p:spPr>
          <a:xfrm>
            <a:off x="548640" y="3977640"/>
            <a:ext cx="11064240" cy="1005840"/>
          </a:xfrm>
          <a:prstGeom prst="roundRect">
            <a:avLst>
              <a:gd name="adj" fmla="val 5455"/>
            </a:avLst>
          </a:prstGeom>
          <a:solidFill>
            <a:srgbClr val="F0F4F8"/>
          </a:solidFill>
          <a:ln/>
        </p:spPr>
      </p:sp>
      <p:sp>
        <p:nvSpPr>
          <p:cNvPr id="11" name="Text 9"/>
          <p:cNvSpPr txBox="1"/>
          <p:nvPr/>
        </p:nvSpPr>
        <p:spPr>
          <a:xfrm>
            <a:off x="731520" y="408736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Odoo se conecta a PostgreSQL con un usuario propio. Le damos permiso CREATEDB porque Odoo crea y gestiona sus bases de datos por sí mismo desde la interfaz web. En producción, usa una contraseña fuerte en lugar de 'odoo'.</a:t>
            </a:r>
            <a:endParaRPr lang="en-US" sz="1300" dirty="0"/>
          </a:p>
        </p:txBody>
      </p:sp>
      <p:sp>
        <p:nvSpPr>
          <p:cNvPr id="12" name="Shape 10"/>
          <p:cNvSpPr/>
          <p:nvPr/>
        </p:nvSpPr>
        <p:spPr>
          <a:xfrm>
            <a:off x="548640" y="5166360"/>
            <a:ext cx="3200400" cy="365760"/>
          </a:xfrm>
          <a:prstGeom prst="roundRect">
            <a:avLst>
              <a:gd name="adj" fmla="val 50000"/>
            </a:avLst>
          </a:prstGeom>
          <a:solidFill>
            <a:srgbClr val="2F855A"/>
          </a:solidFill>
          <a:ln/>
        </p:spPr>
      </p:sp>
      <p:sp>
        <p:nvSpPr>
          <p:cNvPr id="13" name="Text 11"/>
          <p:cNvSpPr txBox="1"/>
          <p:nvPr/>
        </p:nvSpPr>
        <p:spPr>
          <a:xfrm>
            <a:off x="548640" y="516636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rol creado y BD operativa</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P4</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Crear un usuario del sistema para Odoo</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Buena práctica: no ejecutar Odoo como root</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508760"/>
            <a:ext cx="11064240" cy="1371600"/>
          </a:xfrm>
          <a:prstGeom prst="roundRect">
            <a:avLst>
              <a:gd name="adj" fmla="val 5333"/>
            </a:avLst>
          </a:prstGeom>
          <a:solidFill>
            <a:srgbClr val="1A202C"/>
          </a:solidFill>
          <a:ln/>
        </p:spPr>
      </p:sp>
      <p:sp>
        <p:nvSpPr>
          <p:cNvPr id="8" name="Text 6"/>
          <p:cNvSpPr txBox="1"/>
          <p:nvPr/>
        </p:nvSpPr>
        <p:spPr>
          <a:xfrm>
            <a:off x="685800" y="15819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Usuario de servicio, sin login</a:t>
            </a:r>
            <a:endParaRPr lang="en-US" sz="1000" dirty="0"/>
          </a:p>
        </p:txBody>
      </p:sp>
      <p:sp>
        <p:nvSpPr>
          <p:cNvPr id="9" name="Text 7"/>
          <p:cNvSpPr txBox="1"/>
          <p:nvPr/>
        </p:nvSpPr>
        <p:spPr>
          <a:xfrm>
            <a:off x="685800" y="1874520"/>
            <a:ext cx="10789920" cy="91440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adduser --system --home=/opt/odoo --group odoo</a:t>
            </a:r>
            <a:endParaRPr lang="en-US" sz="1250" dirty="0"/>
          </a:p>
        </p:txBody>
      </p:sp>
      <p:sp>
        <p:nvSpPr>
          <p:cNvPr id="10" name="Shape 8"/>
          <p:cNvSpPr/>
          <p:nvPr/>
        </p:nvSpPr>
        <p:spPr>
          <a:xfrm>
            <a:off x="548640" y="3063240"/>
            <a:ext cx="11064240" cy="1005840"/>
          </a:xfrm>
          <a:prstGeom prst="roundRect">
            <a:avLst>
              <a:gd name="adj" fmla="val 5455"/>
            </a:avLst>
          </a:prstGeom>
          <a:solidFill>
            <a:srgbClr val="F0F4F8"/>
          </a:solidFill>
          <a:ln/>
        </p:spPr>
      </p:sp>
      <p:sp>
        <p:nvSpPr>
          <p:cNvPr id="11" name="Text 9"/>
          <p:cNvSpPr txBox="1"/>
          <p:nvPr/>
        </p:nvSpPr>
        <p:spPr>
          <a:xfrm>
            <a:off x="731520" y="317296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Por seguridad, Odoo no debe ejecutarse como root. Creamos un usuario del sistema llamado odoo, sin contraseña ni acceso interactivo, cuyo único fin es ser el propietario de los archivos y ejecutar el servicio. Su carpeta personal será /opt/odoo, donde pondremos el código.</a:t>
            </a:r>
            <a:endParaRPr lang="en-US" sz="1300" dirty="0"/>
          </a:p>
        </p:txBody>
      </p:sp>
      <p:sp>
        <p:nvSpPr>
          <p:cNvPr id="12" name="Shape 10"/>
          <p:cNvSpPr/>
          <p:nvPr/>
        </p:nvSpPr>
        <p:spPr>
          <a:xfrm>
            <a:off x="548640" y="4526280"/>
            <a:ext cx="3200400" cy="365760"/>
          </a:xfrm>
          <a:prstGeom prst="roundRect">
            <a:avLst>
              <a:gd name="adj" fmla="val 50000"/>
            </a:avLst>
          </a:prstGeom>
          <a:solidFill>
            <a:srgbClr val="B7791F"/>
          </a:solidFill>
          <a:ln/>
        </p:spPr>
      </p:sp>
      <p:sp>
        <p:nvSpPr>
          <p:cNvPr id="13" name="Text 11"/>
          <p:cNvSpPr txBox="1"/>
          <p:nvPr/>
        </p:nvSpPr>
        <p:spPr>
          <a:xfrm>
            <a:off x="548640" y="452628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Paso estándar (no crítico para arrancar)</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P5</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Obtener el código de Odoo</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Clonar desde GitHub</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508760"/>
            <a:ext cx="11064240" cy="1828800"/>
          </a:xfrm>
          <a:prstGeom prst="roundRect">
            <a:avLst>
              <a:gd name="adj" fmla="val 4000"/>
            </a:avLst>
          </a:prstGeom>
          <a:solidFill>
            <a:srgbClr val="1A202C"/>
          </a:solidFill>
          <a:ln/>
        </p:spPr>
      </p:sp>
      <p:sp>
        <p:nvSpPr>
          <p:cNvPr id="8" name="Text 6"/>
          <p:cNvSpPr txBox="1"/>
          <p:nvPr/>
        </p:nvSpPr>
        <p:spPr>
          <a:xfrm>
            <a:off x="685800" y="15819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Descarga superficial de la rama 18.0</a:t>
            </a:r>
            <a:endParaRPr lang="en-US" sz="1000" dirty="0"/>
          </a:p>
        </p:txBody>
      </p:sp>
      <p:sp>
        <p:nvSpPr>
          <p:cNvPr id="9" name="Text 7"/>
          <p:cNvSpPr txBox="1"/>
          <p:nvPr/>
        </p:nvSpPr>
        <p:spPr>
          <a:xfrm>
            <a:off x="685800" y="1874520"/>
            <a:ext cx="10789920" cy="137160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git clone https://github.com/odoo/odoo.git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--depth 1 --branch 18.0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/opt/odoo/odoo</a:t>
            </a:r>
            <a:endParaRPr lang="en-US" sz="1250" dirty="0"/>
          </a:p>
        </p:txBody>
      </p:sp>
      <p:sp>
        <p:nvSpPr>
          <p:cNvPr id="10" name="Shape 8"/>
          <p:cNvSpPr/>
          <p:nvPr/>
        </p:nvSpPr>
        <p:spPr>
          <a:xfrm>
            <a:off x="548640" y="3520440"/>
            <a:ext cx="11064240" cy="1005840"/>
          </a:xfrm>
          <a:prstGeom prst="roundRect">
            <a:avLst>
              <a:gd name="adj" fmla="val 5455"/>
            </a:avLst>
          </a:prstGeom>
          <a:solidFill>
            <a:srgbClr val="F0F4F8"/>
          </a:solidFill>
          <a:ln/>
        </p:spPr>
      </p:sp>
      <p:sp>
        <p:nvSpPr>
          <p:cNvPr id="11" name="Text 9"/>
          <p:cNvSpPr txBox="1"/>
          <p:nvPr/>
        </p:nvSpPr>
        <p:spPr>
          <a:xfrm>
            <a:off x="731520" y="363016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git clone descarga el código. --branch 18.0 elige la versión (cambia el número para otra). --depth 1 hace una descarga superficial: baja solo la última versión sin todo el histórico, mucho más rápido y ligero. El código queda en /opt/odoo/odoo.</a:t>
            </a:r>
            <a:endParaRPr lang="en-US" sz="1300" dirty="0"/>
          </a:p>
        </p:txBody>
      </p:sp>
      <p:sp>
        <p:nvSpPr>
          <p:cNvPr id="12" name="Shape 10"/>
          <p:cNvSpPr/>
          <p:nvPr/>
        </p:nvSpPr>
        <p:spPr>
          <a:xfrm>
            <a:off x="548640" y="4709160"/>
            <a:ext cx="3200400" cy="365760"/>
          </a:xfrm>
          <a:prstGeom prst="roundRect">
            <a:avLst>
              <a:gd name="adj" fmla="val 50000"/>
            </a:avLst>
          </a:prstGeom>
          <a:solidFill>
            <a:srgbClr val="2F855A"/>
          </a:solidFill>
          <a:ln/>
        </p:spPr>
      </p:sp>
      <p:sp>
        <p:nvSpPr>
          <p:cNvPr id="13" name="Text 11"/>
          <p:cNvSpPr txBox="1"/>
          <p:nvPr/>
        </p:nvSpPr>
        <p:spPr>
          <a:xfrm>
            <a:off x="548640" y="470916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rama 18.0 clonada</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P6</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Entorno virtual y dependencias de Python</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Aislar las librerías de Odoo</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63040"/>
            <a:ext cx="11064240" cy="2194560"/>
          </a:xfrm>
          <a:prstGeom prst="roundRect">
            <a:avLst>
              <a:gd name="adj" fmla="val 3333"/>
            </a:avLst>
          </a:prstGeom>
          <a:solidFill>
            <a:srgbClr val="1A202C"/>
          </a:solidFill>
          <a:ln/>
        </p:spPr>
      </p:sp>
      <p:sp>
        <p:nvSpPr>
          <p:cNvPr id="8" name="Text 6"/>
          <p:cNvSpPr txBox="1"/>
          <p:nvPr/>
        </p:nvSpPr>
        <p:spPr>
          <a:xfrm>
            <a:off x="685800" y="153619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venv + requirements.txt</a:t>
            </a:r>
            <a:endParaRPr lang="en-US" sz="1000" dirty="0"/>
          </a:p>
        </p:txBody>
      </p:sp>
      <p:sp>
        <p:nvSpPr>
          <p:cNvPr id="9" name="Text 7"/>
          <p:cNvSpPr txBox="1"/>
          <p:nvPr/>
        </p:nvSpPr>
        <p:spPr>
          <a:xfrm>
            <a:off x="685800" y="1828800"/>
            <a:ext cx="10789920" cy="173736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crear el entorno virtual</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python3 -m venv /opt/odoo/venv</a:t>
            </a: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actualizar herramientas e instalar dependencias</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/opt/odoo/venv/bin/pip install --upgrade pip wheel</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/opt/odoo/venv/bin/pip install -r /opt/odoo/odoo/requirements.txt</a:t>
            </a:r>
            <a:endParaRPr lang="en-US" sz="1250" dirty="0"/>
          </a:p>
        </p:txBody>
      </p:sp>
      <p:sp>
        <p:nvSpPr>
          <p:cNvPr id="10" name="Shape 8"/>
          <p:cNvSpPr/>
          <p:nvPr/>
        </p:nvSpPr>
        <p:spPr>
          <a:xfrm>
            <a:off x="548640" y="3840480"/>
            <a:ext cx="11064240" cy="1005840"/>
          </a:xfrm>
          <a:prstGeom prst="roundRect">
            <a:avLst>
              <a:gd name="adj" fmla="val 5455"/>
            </a:avLst>
          </a:prstGeom>
          <a:solidFill>
            <a:srgbClr val="F0F4F8"/>
          </a:solidFill>
          <a:ln/>
        </p:spPr>
      </p:sp>
      <p:sp>
        <p:nvSpPr>
          <p:cNvPr id="11" name="Text 9"/>
          <p:cNvSpPr txBox="1"/>
          <p:nvPr/>
        </p:nvSpPr>
        <p:spPr>
          <a:xfrm>
            <a:off x="731520" y="395020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Un entorno virtual (venv) es una copia aislada de Python para este proyecto: las librerías de Odoo se instalan ahí, sin tocar el Python del sistema ni chocar con otros programas. requirements.txt es la lista de dependencias que trae el propio Odoo; pip las instala todas.</a:t>
            </a:r>
            <a:endParaRPr lang="en-US" sz="1300" dirty="0"/>
          </a:p>
        </p:txBody>
      </p:sp>
      <p:sp>
        <p:nvSpPr>
          <p:cNvPr id="12" name="Shape 10"/>
          <p:cNvSpPr/>
          <p:nvPr/>
        </p:nvSpPr>
        <p:spPr>
          <a:xfrm>
            <a:off x="548640" y="5029200"/>
            <a:ext cx="3200400" cy="365760"/>
          </a:xfrm>
          <a:prstGeom prst="roundRect">
            <a:avLst>
              <a:gd name="adj" fmla="val 50000"/>
            </a:avLst>
          </a:prstGeom>
          <a:solidFill>
            <a:srgbClr val="2F855A"/>
          </a:solidFill>
          <a:ln/>
        </p:spPr>
      </p:sp>
      <p:sp>
        <p:nvSpPr>
          <p:cNvPr id="13" name="Text 11"/>
          <p:cNvSpPr txBox="1"/>
          <p:nvPr/>
        </p:nvSpPr>
        <p:spPr>
          <a:xfrm>
            <a:off x="548640" y="502920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dependencias compiladas e instaladas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P7</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Fichero de configuración</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Reunir los ajustes en odoo.conf</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63040"/>
            <a:ext cx="6583680" cy="3383280"/>
          </a:xfrm>
          <a:prstGeom prst="roundRect">
            <a:avLst>
              <a:gd name="adj" fmla="val 2162"/>
            </a:avLst>
          </a:prstGeom>
          <a:solidFill>
            <a:srgbClr val="1A202C"/>
          </a:solidFill>
          <a:ln/>
        </p:spPr>
      </p:sp>
      <p:sp>
        <p:nvSpPr>
          <p:cNvPr id="8" name="Text 6"/>
          <p:cNvSpPr txBox="1"/>
          <p:nvPr/>
        </p:nvSpPr>
        <p:spPr>
          <a:xfrm>
            <a:off x="685800" y="1536192"/>
            <a:ext cx="630936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/etc/odoo/odoo.conf</a:t>
            </a:r>
            <a:endParaRPr lang="en-US" sz="1000" dirty="0"/>
          </a:p>
        </p:txBody>
      </p:sp>
      <p:sp>
        <p:nvSpPr>
          <p:cNvPr id="9" name="Text 7"/>
          <p:cNvSpPr txBox="1"/>
          <p:nvPr/>
        </p:nvSpPr>
        <p:spPr>
          <a:xfrm>
            <a:off x="685800" y="1828800"/>
            <a:ext cx="6309360" cy="2926080"/>
          </a:xfrm>
          <a:prstGeom prst="rect">
            <a:avLst/>
          </a:prstGeom>
          <a:noFill/>
          <a:ln/>
        </p:spPr>
        <p:txBody>
          <a:bodyPr wrap="square" lIns="0" tIns="0" rIns="0" bIns="0" rtlCol="0" anchor="t"/>
          <a:lstStyle/>
          <a:p>
            <a:pPr algn="l" indent="0" marL="0">
              <a:lnSpc>
                <a:spcPct val="105000"/>
              </a:lnSpc>
              <a:buNone/>
            </a:pPr>
            <a:r>
              <a:rPr lang="en-US" sz="1250" dirty="0">
                <a:solidFill>
                  <a:srgbClr val="FFD343"/>
                </a:solidFill>
                <a:latin typeface="Courier New" pitchFamily="34" charset="0"/>
                <a:ea typeface="Courier New" pitchFamily="34" charset="-122"/>
                <a:cs typeface="Courier New" pitchFamily="34" charset="-120"/>
              </a:rPr>
              <a:t>[options]</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admin_passwd = cambia_esta_clave</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db_host = localhost</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db_port = 5432</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db_user = odoo</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db_password = odoo</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addons_path = /opt/odoo/odoo/addons</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http_port = 8069</a:t>
            </a:r>
            <a:endParaRPr lang="en-US" sz="1250" dirty="0"/>
          </a:p>
        </p:txBody>
      </p:sp>
      <p:sp>
        <p:nvSpPr>
          <p:cNvPr id="10" name="Text 8"/>
          <p:cNvSpPr txBox="1"/>
          <p:nvPr/>
        </p:nvSpPr>
        <p:spPr>
          <a:xfrm>
            <a:off x="7315200" y="1554480"/>
            <a:ext cx="4297680" cy="329184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admin_passwd: contraseña MAESTRA para crear/borrar bases de datos. No es la del login.</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db_*: cómo conectar con PostgreSQL (el usuario del Paso 3).</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addons_path: dónde están los módulos.</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http_port: el puerto web (8069 por defecto).</a:t>
            </a:r>
            <a:endParaRPr lang="en-US" sz="1300" dirty="0"/>
          </a:p>
        </p:txBody>
      </p:sp>
      <p:sp>
        <p:nvSpPr>
          <p:cNvPr id="11" name="Shape 9"/>
          <p:cNvSpPr/>
          <p:nvPr/>
        </p:nvSpPr>
        <p:spPr>
          <a:xfrm>
            <a:off x="7315200" y="5029200"/>
            <a:ext cx="3200400" cy="365760"/>
          </a:xfrm>
          <a:prstGeom prst="roundRect">
            <a:avLst>
              <a:gd name="adj" fmla="val 50000"/>
            </a:avLst>
          </a:prstGeom>
          <a:solidFill>
            <a:srgbClr val="2F855A"/>
          </a:solidFill>
          <a:ln/>
        </p:spPr>
      </p:sp>
      <p:sp>
        <p:nvSpPr>
          <p:cNvPr id="12" name="Text 10"/>
          <p:cNvSpPr txBox="1"/>
          <p:nvPr/>
        </p:nvSpPr>
        <p:spPr>
          <a:xfrm>
            <a:off x="7315200" y="502920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arranca con -c odoo.conf</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P8</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Primer arranque y acceso</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Inicializar la base de datos y entrar por el navegador</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63040"/>
            <a:ext cx="11064240" cy="2286000"/>
          </a:xfrm>
          <a:prstGeom prst="roundRect">
            <a:avLst>
              <a:gd name="adj" fmla="val 3200"/>
            </a:avLst>
          </a:prstGeom>
          <a:solidFill>
            <a:srgbClr val="1A202C"/>
          </a:solidFill>
          <a:ln/>
        </p:spPr>
      </p:sp>
      <p:sp>
        <p:nvSpPr>
          <p:cNvPr id="8" name="Text 6"/>
          <p:cNvSpPr txBox="1"/>
          <p:nvPr/>
        </p:nvSpPr>
        <p:spPr>
          <a:xfrm>
            <a:off x="685800" y="153619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Inicializar y luego arrancar</a:t>
            </a:r>
            <a:endParaRPr lang="en-US" sz="1000" dirty="0"/>
          </a:p>
        </p:txBody>
      </p:sp>
      <p:sp>
        <p:nvSpPr>
          <p:cNvPr id="9" name="Text 7"/>
          <p:cNvSpPr txBox="1"/>
          <p:nvPr/>
        </p:nvSpPr>
        <p:spPr>
          <a:xfrm>
            <a:off x="685800" y="1828800"/>
            <a:ext cx="10789920" cy="182880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1) inicializar una BD llamada 'odoo' con el módulo base</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/opt/odoo/venv/bin/python /opt/odoo/odoo/odoo-bin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-c /etc/odoo/odoo.conf -d odoo -i base --stop-after-init</a:t>
            </a: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2) arrancar el servidor</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/opt/odoo/venv/bin/python /opt/odoo/odoo/odoo-bin -c /etc/odoo/odoo.conf</a:t>
            </a:r>
            <a:endParaRPr lang="en-US" sz="1250" dirty="0"/>
          </a:p>
        </p:txBody>
      </p:sp>
      <p:sp>
        <p:nvSpPr>
          <p:cNvPr id="10" name="Shape 8"/>
          <p:cNvSpPr/>
          <p:nvPr/>
        </p:nvSpPr>
        <p:spPr>
          <a:xfrm>
            <a:off x="548640" y="3931920"/>
            <a:ext cx="11064240" cy="1005840"/>
          </a:xfrm>
          <a:prstGeom prst="roundRect">
            <a:avLst>
              <a:gd name="adj" fmla="val 5455"/>
            </a:avLst>
          </a:prstGeom>
          <a:solidFill>
            <a:srgbClr val="F0F4F8"/>
          </a:solidFill>
          <a:ln/>
        </p:spPr>
      </p:sp>
      <p:sp>
        <p:nvSpPr>
          <p:cNvPr id="11" name="Text 9"/>
          <p:cNvSpPr txBox="1"/>
          <p:nvPr/>
        </p:nvSpPr>
        <p:spPr>
          <a:xfrm>
            <a:off x="731520" y="4041648"/>
            <a:ext cx="10698480" cy="78638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El primer comando crea la base de datos y monta las tablas (--stop-after-init hace que termine al acabar). El segundo deja el servidor escuchando. Después, abre en el navegador http://IP_DEL_SERVIDOR:8069 y verás la pantalla de Odoo.</a:t>
            </a:r>
            <a:endParaRPr lang="en-US" sz="1300" dirty="0"/>
          </a:p>
        </p:txBody>
      </p:sp>
      <p:sp>
        <p:nvSpPr>
          <p:cNvPr id="12" name="Shape 10"/>
          <p:cNvSpPr/>
          <p:nvPr/>
        </p:nvSpPr>
        <p:spPr>
          <a:xfrm>
            <a:off x="548640" y="5120640"/>
            <a:ext cx="3200400" cy="365760"/>
          </a:xfrm>
          <a:prstGeom prst="roundRect">
            <a:avLst>
              <a:gd name="adj" fmla="val 50000"/>
            </a:avLst>
          </a:prstGeom>
          <a:solidFill>
            <a:srgbClr val="2F855A"/>
          </a:solidFill>
          <a:ln/>
        </p:spPr>
      </p:sp>
      <p:sp>
        <p:nvSpPr>
          <p:cNvPr id="13" name="Text 11"/>
          <p:cNvSpPr txBox="1"/>
          <p:nvPr/>
        </p:nvSpPr>
        <p:spPr>
          <a:xfrm>
            <a:off x="548640" y="51206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HTTP 200 en /web/login</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P9</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Abrir Odoo en el navegador</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Con el servidor arrancado, vas a su dirección web</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63040"/>
            <a:ext cx="11064240" cy="2103120"/>
          </a:xfrm>
          <a:prstGeom prst="roundRect">
            <a:avLst>
              <a:gd name="adj" fmla="val 3478"/>
            </a:avLst>
          </a:prstGeom>
          <a:solidFill>
            <a:srgbClr val="1A202C"/>
          </a:solidFill>
          <a:ln/>
        </p:spPr>
      </p:sp>
      <p:sp>
        <p:nvSpPr>
          <p:cNvPr id="8" name="Text 6"/>
          <p:cNvSpPr txBox="1"/>
          <p:nvPr/>
        </p:nvSpPr>
        <p:spPr>
          <a:xfrm>
            <a:off x="685800" y="153619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La dirección de Odoo</a:t>
            </a:r>
            <a:endParaRPr lang="en-US" sz="1000" dirty="0"/>
          </a:p>
        </p:txBody>
      </p:sp>
      <p:sp>
        <p:nvSpPr>
          <p:cNvPr id="9" name="Text 7"/>
          <p:cNvSpPr txBox="1"/>
          <p:nvPr/>
        </p:nvSpPr>
        <p:spPr>
          <a:xfrm>
            <a:off x="685800" y="1828800"/>
            <a:ext cx="10789920" cy="164592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en la misma máquina donde corre Odoo:</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http://localhost:8069</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desde otro equipo (pon la IP del servidor):</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http://IP_DEL_SERVIDOR:8069</a:t>
            </a:r>
            <a:endParaRPr lang="en-US" sz="1250" dirty="0"/>
          </a:p>
        </p:txBody>
      </p:sp>
      <p:sp>
        <p:nvSpPr>
          <p:cNvPr id="10" name="Shape 8"/>
          <p:cNvSpPr/>
          <p:nvPr/>
        </p:nvSpPr>
        <p:spPr>
          <a:xfrm>
            <a:off x="548640" y="3749040"/>
            <a:ext cx="7315200" cy="1188720"/>
          </a:xfrm>
          <a:prstGeom prst="roundRect">
            <a:avLst>
              <a:gd name="adj" fmla="val 4615"/>
            </a:avLst>
          </a:prstGeom>
          <a:solidFill>
            <a:srgbClr val="F0F4F8"/>
          </a:solidFill>
          <a:ln/>
        </p:spPr>
      </p:sp>
      <p:sp>
        <p:nvSpPr>
          <p:cNvPr id="11" name="Text 9"/>
          <p:cNvSpPr txBox="1"/>
          <p:nvPr/>
        </p:nvSpPr>
        <p:spPr>
          <a:xfrm>
            <a:off x="731520" y="3858768"/>
            <a:ext cx="6949440" cy="96926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El servidor Odoo escucha en el puerto 8069. Desde la propia máquina se usa localhost; desde otro equipo, la IP del servidor. Si no carga desde fuera, casi siempre es el cortafuegos bloqueando el puerto.</a:t>
            </a:r>
            <a:endParaRPr lang="en-US" sz="1300" dirty="0"/>
          </a:p>
        </p:txBody>
      </p:sp>
      <p:sp>
        <p:nvSpPr>
          <p:cNvPr id="12" name="Shape 10"/>
          <p:cNvSpPr/>
          <p:nvPr/>
        </p:nvSpPr>
        <p:spPr>
          <a:xfrm>
            <a:off x="8046720" y="3749040"/>
            <a:ext cx="3566160" cy="1188720"/>
          </a:xfrm>
          <a:prstGeom prst="roundRect">
            <a:avLst>
              <a:gd name="adj" fmla="val 6154"/>
            </a:avLst>
          </a:prstGeom>
          <a:solidFill>
            <a:srgbClr val="1A202C"/>
          </a:solidFill>
          <a:ln/>
        </p:spPr>
      </p:sp>
      <p:sp>
        <p:nvSpPr>
          <p:cNvPr id="13" name="Text 11"/>
          <p:cNvSpPr txBox="1"/>
          <p:nvPr/>
        </p:nvSpPr>
        <p:spPr>
          <a:xfrm>
            <a:off x="8183880" y="3822192"/>
            <a:ext cx="329184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Si no carga desde fuera</a:t>
            </a:r>
            <a:endParaRPr lang="en-US" sz="1000" dirty="0"/>
          </a:p>
        </p:txBody>
      </p:sp>
      <p:sp>
        <p:nvSpPr>
          <p:cNvPr id="14" name="Text 12"/>
          <p:cNvSpPr txBox="1"/>
          <p:nvPr/>
        </p:nvSpPr>
        <p:spPr>
          <a:xfrm>
            <a:off x="8183880" y="4114800"/>
            <a:ext cx="3291840" cy="73152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abrir el puerto</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ufw allow 8069/tcp</a:t>
            </a:r>
            <a:endParaRPr lang="en-US" sz="1250" dirty="0"/>
          </a:p>
        </p:txBody>
      </p:sp>
      <p:sp>
        <p:nvSpPr>
          <p:cNvPr id="15" name="Shape 13"/>
          <p:cNvSpPr/>
          <p:nvPr/>
        </p:nvSpPr>
        <p:spPr>
          <a:xfrm>
            <a:off x="548640" y="5212080"/>
            <a:ext cx="3200400" cy="365760"/>
          </a:xfrm>
          <a:prstGeom prst="roundRect">
            <a:avLst>
              <a:gd name="adj" fmla="val 50000"/>
            </a:avLst>
          </a:prstGeom>
          <a:solidFill>
            <a:srgbClr val="2F855A"/>
          </a:solidFill>
          <a:ln/>
        </p:spPr>
      </p:sp>
      <p:sp>
        <p:nvSpPr>
          <p:cNvPr id="16" name="Text 14"/>
          <p:cNvSpPr txBox="1"/>
          <p:nvPr/>
        </p:nvSpPr>
        <p:spPr>
          <a:xfrm>
            <a:off x="548640" y="521208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Verificado: responde en el 8069</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P10</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Crear la base de datos y entrar</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El primer acceso tiene dos caminos</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Text 5"/>
          <p:cNvSpPr txBox="1"/>
          <p:nvPr/>
        </p:nvSpPr>
        <p:spPr>
          <a:xfrm>
            <a:off x="548640" y="1371600"/>
            <a:ext cx="5486400" cy="36576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Camino A · aún no hay base de datos</a:t>
            </a:r>
            <a:endParaRPr lang="en-US" sz="1400" dirty="0"/>
          </a:p>
        </p:txBody>
      </p:sp>
      <p:sp>
        <p:nvSpPr>
          <p:cNvPr id="8" name="Shape 6"/>
          <p:cNvSpPr/>
          <p:nvPr/>
        </p:nvSpPr>
        <p:spPr>
          <a:xfrm>
            <a:off x="548640" y="1783080"/>
            <a:ext cx="5486400" cy="2468880"/>
          </a:xfrm>
          <a:prstGeom prst="roundRect">
            <a:avLst>
              <a:gd name="adj" fmla="val 2222"/>
            </a:avLst>
          </a:prstGeom>
          <a:solidFill>
            <a:srgbClr val="F0F4F8"/>
          </a:solidFill>
          <a:ln/>
        </p:spPr>
      </p:sp>
      <p:sp>
        <p:nvSpPr>
          <p:cNvPr id="9" name="Text 7"/>
          <p:cNvSpPr txBox="1"/>
          <p:nvPr/>
        </p:nvSpPr>
        <p:spPr>
          <a:xfrm>
            <a:off x="731520" y="1892808"/>
            <a:ext cx="5120640" cy="224942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Odoo muestra el GESTOR DE BASES DE DATOS. Pulsa 'Crear base de datos' y rellena: nombre de la BD, correo y contraseña del administrador, idioma y país. Marca 'datos de demostración' solo si quieres ejemplos. La contraseña maestra (admin_passwd del odoo.conf) protege este gestor.</a:t>
            </a:r>
            <a:endParaRPr lang="en-US" sz="1300" dirty="0"/>
          </a:p>
        </p:txBody>
      </p:sp>
      <p:sp>
        <p:nvSpPr>
          <p:cNvPr id="10" name="Text 8"/>
          <p:cNvSpPr txBox="1"/>
          <p:nvPr/>
        </p:nvSpPr>
        <p:spPr>
          <a:xfrm>
            <a:off x="6309360" y="1371600"/>
            <a:ext cx="5303520" cy="365760"/>
          </a:xfrm>
          <a:prstGeom prst="rect">
            <a:avLst/>
          </a:prstGeom>
          <a:noFill/>
          <a:ln/>
        </p:spPr>
        <p:txBody>
          <a:bodyPr wrap="square" lIns="0" tIns="0" rIns="0" bIns="0" rtlCol="0" anchor="ctr"/>
          <a:lstStyle/>
          <a:p>
            <a:pPr indent="0" marL="0">
              <a:buNone/>
            </a:pPr>
            <a:r>
              <a:rPr lang="en-US" sz="1400" b="1" dirty="0">
                <a:solidFill>
                  <a:srgbClr val="1D3557"/>
                </a:solidFill>
                <a:latin typeface="Calibri" pitchFamily="34" charset="0"/>
                <a:ea typeface="Calibri" pitchFamily="34" charset="-122"/>
                <a:cs typeface="Calibri" pitchFamily="34" charset="-120"/>
              </a:rPr>
              <a:t>Camino B · ya la inicializaste (Paso 8)</a:t>
            </a:r>
            <a:endParaRPr lang="en-US" sz="1400" dirty="0"/>
          </a:p>
        </p:txBody>
      </p:sp>
      <p:sp>
        <p:nvSpPr>
          <p:cNvPr id="11" name="Shape 9"/>
          <p:cNvSpPr/>
          <p:nvPr/>
        </p:nvSpPr>
        <p:spPr>
          <a:xfrm>
            <a:off x="6309360" y="1783080"/>
            <a:ext cx="5303520" cy="2468880"/>
          </a:xfrm>
          <a:prstGeom prst="roundRect">
            <a:avLst>
              <a:gd name="adj" fmla="val 2222"/>
            </a:avLst>
          </a:prstGeom>
          <a:solidFill>
            <a:srgbClr val="F0F4F8"/>
          </a:solidFill>
          <a:ln/>
        </p:spPr>
      </p:sp>
      <p:sp>
        <p:nvSpPr>
          <p:cNvPr id="12" name="Text 10"/>
          <p:cNvSpPr txBox="1"/>
          <p:nvPr/>
        </p:nvSpPr>
        <p:spPr>
          <a:xfrm>
            <a:off x="6492240" y="1892808"/>
            <a:ext cx="4937760" cy="224942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Como creaste la BD por línea de comandos (-d odoo -i base), NO ves el asistente: el navegador te lleva directo a la pantalla de acceso. Entra con el usuario administrador de esa base de datos.</a:t>
            </a:r>
            <a:endParaRPr lang="en-US" sz="1300" dirty="0"/>
          </a:p>
        </p:txBody>
      </p:sp>
      <p:sp>
        <p:nvSpPr>
          <p:cNvPr id="13" name="Shape 11"/>
          <p:cNvSpPr/>
          <p:nvPr/>
        </p:nvSpPr>
        <p:spPr>
          <a:xfrm>
            <a:off x="548640" y="4572000"/>
            <a:ext cx="6949440" cy="1371600"/>
          </a:xfrm>
          <a:prstGeom prst="roundRect">
            <a:avLst>
              <a:gd name="adj" fmla="val 5333"/>
            </a:avLst>
          </a:prstGeom>
          <a:solidFill>
            <a:srgbClr val="1A202C"/>
          </a:solidFill>
          <a:ln/>
        </p:spPr>
      </p:sp>
      <p:sp>
        <p:nvSpPr>
          <p:cNvPr id="14" name="Text 12"/>
          <p:cNvSpPr txBox="1"/>
          <p:nvPr/>
        </p:nvSpPr>
        <p:spPr>
          <a:xfrm>
            <a:off x="685800" y="4645152"/>
            <a:ext cx="66751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Rutas (verificadas: HTTP 200)</a:t>
            </a:r>
            <a:endParaRPr lang="en-US" sz="1000" dirty="0"/>
          </a:p>
        </p:txBody>
      </p:sp>
      <p:sp>
        <p:nvSpPr>
          <p:cNvPr id="15" name="Text 13"/>
          <p:cNvSpPr txBox="1"/>
          <p:nvPr/>
        </p:nvSpPr>
        <p:spPr>
          <a:xfrm>
            <a:off x="685800" y="4937760"/>
            <a:ext cx="6675120" cy="914400"/>
          </a:xfrm>
          <a:prstGeom prst="rect">
            <a:avLst/>
          </a:prstGeom>
          <a:noFill/>
          <a:ln/>
        </p:spPr>
        <p:txBody>
          <a:bodyPr wrap="square" lIns="0" tIns="0" rIns="0" bIns="0" rtlCol="0" anchor="t"/>
          <a:lstStyle/>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/web/database/manager   # gestor de BD</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/web/login              # pantalla de acceso</a:t>
            </a:r>
            <a:endParaRPr lang="en-US" sz="1250" dirty="0"/>
          </a:p>
        </p:txBody>
      </p:sp>
      <p:sp>
        <p:nvSpPr>
          <p:cNvPr id="16" name="Text 14"/>
          <p:cNvSpPr txBox="1"/>
          <p:nvPr/>
        </p:nvSpPr>
        <p:spPr>
          <a:xfrm>
            <a:off x="7680960" y="4617720"/>
            <a:ext cx="3931920" cy="1463040"/>
          </a:xfrm>
          <a:prstGeom prst="rect">
            <a:avLst/>
          </a:prstGeom>
          <a:noFill/>
          <a:ln/>
        </p:spPr>
        <p:txBody>
          <a:bodyPr wrap="square" lIns="0" tIns="0" rIns="0" bIns="0" rtlCol="0" anchor="t"/>
          <a:lstStyle/>
          <a:p>
            <a:pPr marL="190500" indent="-1905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Con el asistente: usuario = el correo que pusiste.</a:t>
            </a:r>
            <a:endParaRPr lang="en-US" sz="1150" dirty="0"/>
          </a:p>
          <a:p>
            <a:pPr marL="190500" indent="-1905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Con datos de demostración: admin / admin (cámbiala).</a:t>
            </a:r>
            <a:endParaRPr lang="en-US" sz="1150" dirty="0"/>
          </a:p>
          <a:p>
            <a:pPr marL="190500" indent="-190500">
              <a:spcAft>
                <a:spcPts val="600"/>
              </a:spcAft>
              <a:buSzPct val="100000"/>
              <a:buChar char="•"/>
            </a:pPr>
            <a:r>
              <a:rPr lang="en-US" sz="1150" dirty="0">
                <a:solidFill>
                  <a:srgbClr val="1A202C"/>
                </a:solidFill>
                <a:latin typeface="Calibri" pitchFamily="34" charset="0"/>
                <a:ea typeface="Calibri" pitchFamily="34" charset="-122"/>
                <a:cs typeface="Calibri" pitchFamily="34" charset="-120"/>
              </a:rPr>
              <a:t>La contraseña maestra NO es la del login.</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P11</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Que arranque solo: servicio systemd</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Para producción: Odoo como servicio del sistema</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17320"/>
            <a:ext cx="6766560" cy="3200400"/>
          </a:xfrm>
          <a:prstGeom prst="roundRect">
            <a:avLst>
              <a:gd name="adj" fmla="val 2286"/>
            </a:avLst>
          </a:prstGeom>
          <a:solidFill>
            <a:srgbClr val="1A202C"/>
          </a:solidFill>
          <a:ln/>
        </p:spPr>
      </p:sp>
      <p:sp>
        <p:nvSpPr>
          <p:cNvPr id="8" name="Text 6"/>
          <p:cNvSpPr txBox="1"/>
          <p:nvPr/>
        </p:nvSpPr>
        <p:spPr>
          <a:xfrm>
            <a:off x="685800" y="1490472"/>
            <a:ext cx="649224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Unidad de servicio</a:t>
            </a:r>
            <a:endParaRPr lang="en-US" sz="1000" dirty="0"/>
          </a:p>
        </p:txBody>
      </p:sp>
      <p:sp>
        <p:nvSpPr>
          <p:cNvPr id="9" name="Text 7"/>
          <p:cNvSpPr txBox="1"/>
          <p:nvPr/>
        </p:nvSpPr>
        <p:spPr>
          <a:xfrm>
            <a:off x="685800" y="1783080"/>
            <a:ext cx="6492240" cy="274320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/etc/systemd/system/odoo.service</a:t>
            </a:r>
            <a:endParaRPr lang="en-US" sz="1250" dirty="0"/>
          </a:p>
          <a:p>
            <a:pPr algn="l" indent="0" marL="0">
              <a:lnSpc>
                <a:spcPct val="105000"/>
              </a:lnSpc>
              <a:buNone/>
            </a:pPr>
            <a:r>
              <a:rPr lang="en-US" sz="1250" dirty="0">
                <a:solidFill>
                  <a:srgbClr val="FFD343"/>
                </a:solidFill>
                <a:latin typeface="Courier New" pitchFamily="34" charset="0"/>
                <a:ea typeface="Courier New" pitchFamily="34" charset="-122"/>
                <a:cs typeface="Courier New" pitchFamily="34" charset="-120"/>
              </a:rPr>
              <a:t>[Unit]</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After=postgresql.service</a:t>
            </a:r>
            <a:endParaRPr lang="en-US" sz="1250" dirty="0"/>
          </a:p>
          <a:p>
            <a:pPr algn="l" indent="0" marL="0">
              <a:lnSpc>
                <a:spcPct val="105000"/>
              </a:lnSpc>
              <a:buNone/>
            </a:pPr>
            <a:r>
              <a:rPr lang="en-US" sz="1250" dirty="0">
                <a:solidFill>
                  <a:srgbClr val="FFD343"/>
                </a:solidFill>
                <a:latin typeface="Courier New" pitchFamily="34" charset="0"/>
                <a:ea typeface="Courier New" pitchFamily="34" charset="-122"/>
                <a:cs typeface="Courier New" pitchFamily="34" charset="-120"/>
              </a:rPr>
              <a:t>[Service]</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User=odoo</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ExecStart=/opt/odoo/venv/bin/python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/opt/odoo/odoo/odoo-bin -c /etc/odoo/odoo.conf</a:t>
            </a:r>
            <a:endParaRPr lang="en-US" sz="1250" dirty="0"/>
          </a:p>
          <a:p>
            <a:pPr algn="l" indent="0" marL="0">
              <a:lnSpc>
                <a:spcPct val="105000"/>
              </a:lnSpc>
              <a:buNone/>
            </a:pPr>
            <a:r>
              <a:rPr lang="en-US" sz="1250" dirty="0">
                <a:solidFill>
                  <a:srgbClr val="FFD343"/>
                </a:solidFill>
                <a:latin typeface="Courier New" pitchFamily="34" charset="0"/>
                <a:ea typeface="Courier New" pitchFamily="34" charset="-122"/>
                <a:cs typeface="Courier New" pitchFamily="34" charset="-120"/>
              </a:rPr>
              <a:t>[Install]</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WantedBy=multi-user.target</a:t>
            </a:r>
            <a:endParaRPr lang="en-US" sz="1250" dirty="0"/>
          </a:p>
        </p:txBody>
      </p:sp>
      <p:sp>
        <p:nvSpPr>
          <p:cNvPr id="10" name="Shape 8"/>
          <p:cNvSpPr/>
          <p:nvPr/>
        </p:nvSpPr>
        <p:spPr>
          <a:xfrm>
            <a:off x="7498080" y="1417320"/>
            <a:ext cx="4114800" cy="1737360"/>
          </a:xfrm>
          <a:prstGeom prst="roundRect">
            <a:avLst>
              <a:gd name="adj" fmla="val 4211"/>
            </a:avLst>
          </a:prstGeom>
          <a:solidFill>
            <a:srgbClr val="1A202C"/>
          </a:solidFill>
          <a:ln/>
        </p:spPr>
      </p:sp>
      <p:sp>
        <p:nvSpPr>
          <p:cNvPr id="11" name="Text 9"/>
          <p:cNvSpPr txBox="1"/>
          <p:nvPr/>
        </p:nvSpPr>
        <p:spPr>
          <a:xfrm>
            <a:off x="7635240" y="1490472"/>
            <a:ext cx="384048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Activarlo</a:t>
            </a:r>
            <a:endParaRPr lang="en-US" sz="1000" dirty="0"/>
          </a:p>
        </p:txBody>
      </p:sp>
      <p:sp>
        <p:nvSpPr>
          <p:cNvPr id="12" name="Text 10"/>
          <p:cNvSpPr txBox="1"/>
          <p:nvPr/>
        </p:nvSpPr>
        <p:spPr>
          <a:xfrm>
            <a:off x="7635240" y="1783080"/>
            <a:ext cx="3840480" cy="1280160"/>
          </a:xfrm>
          <a:prstGeom prst="rect">
            <a:avLst/>
          </a:prstGeom>
          <a:noFill/>
          <a:ln/>
        </p:spPr>
        <p:txBody>
          <a:bodyPr wrap="square" lIns="0" tIns="0" rIns="0" bIns="0" rtlCol="0" anchor="t"/>
          <a:lstStyle/>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systemctl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daemon-reload</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sudo systemctl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enable --now odoo</a:t>
            </a:r>
            <a:endParaRPr lang="en-US" sz="1250" dirty="0"/>
          </a:p>
        </p:txBody>
      </p:sp>
      <p:sp>
        <p:nvSpPr>
          <p:cNvPr id="13" name="Shape 11"/>
          <p:cNvSpPr/>
          <p:nvPr/>
        </p:nvSpPr>
        <p:spPr>
          <a:xfrm>
            <a:off x="7498080" y="4297680"/>
            <a:ext cx="3200400" cy="365760"/>
          </a:xfrm>
          <a:prstGeom prst="roundRect">
            <a:avLst>
              <a:gd name="adj" fmla="val 50000"/>
            </a:avLst>
          </a:prstGeom>
          <a:solidFill>
            <a:srgbClr val="B7791F"/>
          </a:solidFill>
          <a:ln/>
        </p:spPr>
      </p:sp>
      <p:sp>
        <p:nvSpPr>
          <p:cNvPr id="14" name="Text 12"/>
          <p:cNvSpPr txBox="1"/>
          <p:nvPr/>
        </p:nvSpPr>
        <p:spPr>
          <a:xfrm>
            <a:off x="7498080" y="429768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Sintaxis validada (systemd-analyze)</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0881360" y="868680"/>
            <a:ext cx="731520" cy="731520"/>
          </a:xfrm>
          <a:prstGeom prst="roundRect">
            <a:avLst>
              <a:gd name="adj" fmla="val 15000"/>
            </a:avLst>
          </a:prstGeom>
          <a:solidFill>
            <a:srgbClr val="FFD343"/>
          </a:solidFill>
          <a:ln/>
        </p:spPr>
      </p:sp>
      <p:sp>
        <p:nvSpPr>
          <p:cNvPr id="3" name="Text 1"/>
          <p:cNvSpPr txBox="1"/>
          <p:nvPr/>
        </p:nvSpPr>
        <p:spPr>
          <a:xfrm>
            <a:off x="10881360" y="868680"/>
            <a:ext cx="731520" cy="731520"/>
          </a:xfrm>
          <a:prstGeom prst="rect">
            <a:avLst/>
          </a:prstGeom>
          <a:noFill/>
          <a:ln/>
        </p:spPr>
        <p:txBody>
          <a:bodyPr wrap="square" lIns="0" tIns="0" rIns="0" bIns="0" rtlCol="0" anchor="ctr"/>
          <a:lstStyle/>
          <a:p>
            <a:pPr algn="ctr" indent="0" marL="0">
              <a:buNone/>
            </a:pPr>
            <a:r>
              <a:rPr lang="en-US" sz="2200" b="1" dirty="0">
                <a:solidFill>
                  <a:srgbClr val="1A202C"/>
                </a:solidFill>
                <a:latin typeface="Cambria" pitchFamily="34" charset="0"/>
                <a:ea typeface="Cambria" pitchFamily="34" charset="-122"/>
                <a:cs typeface="Cambria" pitchFamily="34" charset="-120"/>
              </a:rPr>
              <a:t>P12</a:t>
            </a:r>
            <a:endParaRPr lang="en-US" sz="2200" dirty="0"/>
          </a:p>
        </p:txBody>
      </p:sp>
      <p:sp>
        <p:nvSpPr>
          <p:cNvPr id="4" name="Text 2"/>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Salir a internet con seguridad: Nginx</a:t>
            </a:r>
            <a:endParaRPr lang="en-US" sz="2900" dirty="0"/>
          </a:p>
        </p:txBody>
      </p:sp>
      <p:sp>
        <p:nvSpPr>
          <p:cNvPr id="5" name="Text 3"/>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Producción: proxy inverso y HTTPS</a:t>
            </a:r>
            <a:endParaRPr lang="en-US" sz="1400" dirty="0"/>
          </a:p>
        </p:txBody>
      </p:sp>
      <p:sp>
        <p:nvSpPr>
          <p:cNvPr id="6" name="Text 4"/>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7" name="Shape 5"/>
          <p:cNvSpPr/>
          <p:nvPr/>
        </p:nvSpPr>
        <p:spPr>
          <a:xfrm>
            <a:off x="548640" y="1463040"/>
            <a:ext cx="7498080" cy="2377440"/>
          </a:xfrm>
          <a:prstGeom prst="roundRect">
            <a:avLst>
              <a:gd name="adj" fmla="val 3077"/>
            </a:avLst>
          </a:prstGeom>
          <a:solidFill>
            <a:srgbClr val="1A202C"/>
          </a:solidFill>
          <a:ln/>
        </p:spPr>
      </p:sp>
      <p:sp>
        <p:nvSpPr>
          <p:cNvPr id="8" name="Text 6"/>
          <p:cNvSpPr txBox="1"/>
          <p:nvPr/>
        </p:nvSpPr>
        <p:spPr>
          <a:xfrm>
            <a:off x="685800" y="1536192"/>
            <a:ext cx="722376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Nginx delante de Odoo</a:t>
            </a:r>
            <a:endParaRPr lang="en-US" sz="1000" dirty="0"/>
          </a:p>
        </p:txBody>
      </p:sp>
      <p:sp>
        <p:nvSpPr>
          <p:cNvPr id="9" name="Text 7"/>
          <p:cNvSpPr txBox="1"/>
          <p:nvPr/>
        </p:nvSpPr>
        <p:spPr>
          <a:xfrm>
            <a:off x="685800" y="1828800"/>
            <a:ext cx="7223760" cy="192024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/etc/nginx/sites-available/odoo</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server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listen 80;</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server_name miempresa.com;</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location / {</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    proxy_pass http://127.0.0.1:8069;</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a:t>
            </a:r>
            <a:endParaRPr lang="en-US" sz="1250" dirty="0"/>
          </a:p>
        </p:txBody>
      </p:sp>
      <p:sp>
        <p:nvSpPr>
          <p:cNvPr id="10" name="Text 8"/>
          <p:cNvSpPr txBox="1"/>
          <p:nvPr/>
        </p:nvSpPr>
        <p:spPr>
          <a:xfrm>
            <a:off x="8229600" y="1554480"/>
            <a:ext cx="3383280" cy="2926080"/>
          </a:xfrm>
          <a:prstGeom prst="rect">
            <a:avLst/>
          </a:prstGeom>
          <a:noFill/>
          <a:ln/>
        </p:spPr>
        <p:txBody>
          <a:bodyPr wrap="square" lIns="0" tIns="0" rIns="0" bIns="0" rtlCol="0" anchor="t"/>
          <a:lstStyle/>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El navegador entra por el puerto 80/443 (Nginx), no por el 8069.</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Nginx reenvía a Odoo por dentro.</a:t>
            </a:r>
            <a:endParaRPr lang="en-US" sz="1300" dirty="0"/>
          </a:p>
          <a:p>
            <a:pPr marL="190500" indent="-190500">
              <a:spcAft>
                <a:spcPts val="600"/>
              </a:spcAft>
              <a:buSzPct val="100000"/>
              <a:buChar char="•"/>
            </a:pPr>
            <a:r>
              <a:rPr lang="en-US" sz="1300" dirty="0">
                <a:solidFill>
                  <a:srgbClr val="1A202C"/>
                </a:solidFill>
                <a:latin typeface="Calibri" pitchFamily="34" charset="0"/>
                <a:ea typeface="Calibri" pitchFamily="34" charset="-122"/>
                <a:cs typeface="Calibri" pitchFamily="34" charset="-120"/>
              </a:rPr>
              <a:t>Permite añadir HTTPS (con Certbot) y proteger el servidor.</a:t>
            </a:r>
            <a:endParaRPr lang="en-US" sz="1300" dirty="0"/>
          </a:p>
        </p:txBody>
      </p:sp>
      <p:sp>
        <p:nvSpPr>
          <p:cNvPr id="11" name="Shape 9"/>
          <p:cNvSpPr/>
          <p:nvPr/>
        </p:nvSpPr>
        <p:spPr>
          <a:xfrm>
            <a:off x="8229600" y="4663440"/>
            <a:ext cx="3200400" cy="365760"/>
          </a:xfrm>
          <a:prstGeom prst="roundRect">
            <a:avLst>
              <a:gd name="adj" fmla="val 50000"/>
            </a:avLst>
          </a:prstGeom>
          <a:solidFill>
            <a:srgbClr val="B7791F"/>
          </a:solidFill>
          <a:ln/>
        </p:spPr>
      </p:sp>
      <p:sp>
        <p:nvSpPr>
          <p:cNvPr id="12" name="Text 10"/>
          <p:cNvSpPr txBox="1"/>
          <p:nvPr/>
        </p:nvSpPr>
        <p:spPr>
          <a:xfrm>
            <a:off x="8229600" y="466344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Config validada (nginx -t)</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A202C"/>
        </a:solidFill>
      </p:bgPr>
    </p:bg>
    <p:spTree>
      <p:nvGrpSpPr>
        <p:cNvPr id="1" name=""/>
        <p:cNvGrpSpPr/>
        <p:nvPr/>
      </p:nvGrpSpPr>
      <p:grpSpPr>
        <a:xfrm>
          <a:off x="0" y="0"/>
          <a:ext cx="0" cy="0"/>
          <a:chOff x="0" y="0"/>
          <a:chExt cx="0" cy="0"/>
        </a:xfrm>
      </p:grpSpPr>
      <p:sp>
        <p:nvSpPr>
          <p:cNvPr id="2" name="Text 0"/>
          <p:cNvSpPr txBox="1"/>
          <p:nvPr/>
        </p:nvSpPr>
        <p:spPr>
          <a:xfrm>
            <a:off x="640080" y="502920"/>
            <a:ext cx="10972800" cy="731520"/>
          </a:xfrm>
          <a:prstGeom prst="rect">
            <a:avLst/>
          </a:prstGeom>
          <a:noFill/>
          <a:ln/>
        </p:spPr>
        <p:txBody>
          <a:bodyPr wrap="square" lIns="0" tIns="0" rIns="0" bIns="0" rtlCol="0" anchor="ctr"/>
          <a:lstStyle/>
          <a:p>
            <a:pPr indent="0" marL="0">
              <a:buNone/>
            </a:pPr>
            <a:r>
              <a:rPr lang="en-US" sz="2800" b="1" dirty="0">
                <a:solidFill>
                  <a:srgbClr val="FFD343"/>
                </a:solidFill>
                <a:latin typeface="Cambria" pitchFamily="34" charset="0"/>
                <a:ea typeface="Cambria" pitchFamily="34" charset="-122"/>
                <a:cs typeface="Cambria" pitchFamily="34" charset="-120"/>
              </a:rPr>
              <a:t>Cómo comprobar que funciona</a:t>
            </a:r>
            <a:endParaRPr lang="en-US" sz="2800" dirty="0"/>
          </a:p>
        </p:txBody>
      </p:sp>
      <p:sp>
        <p:nvSpPr>
          <p:cNvPr id="3" name="Text 1"/>
          <p:cNvSpPr txBox="1"/>
          <p:nvPr/>
        </p:nvSpPr>
        <p:spPr>
          <a:xfrm>
            <a:off x="658368" y="1188720"/>
            <a:ext cx="10972800" cy="365760"/>
          </a:xfrm>
          <a:prstGeom prst="rect">
            <a:avLst/>
          </a:prstGeom>
          <a:noFill/>
          <a:ln/>
        </p:spPr>
        <p:txBody>
          <a:bodyPr wrap="square" lIns="0" tIns="0" rIns="0" bIns="0" rtlCol="0" anchor="ctr"/>
          <a:lstStyle/>
          <a:p>
            <a:pPr indent="0" marL="0">
              <a:buNone/>
            </a:pPr>
            <a:r>
              <a:rPr lang="en-US" sz="1300" i="1" dirty="0">
                <a:solidFill>
                  <a:srgbClr val="AEC4DA"/>
                </a:solidFill>
                <a:latin typeface="Calibri" pitchFamily="34" charset="0"/>
                <a:ea typeface="Calibri" pitchFamily="34" charset="-122"/>
                <a:cs typeface="Calibri" pitchFamily="34" charset="-120"/>
              </a:rPr>
              <a:t>Estas comprobaciones son las que se ejecutaron para validar esta guía</a:t>
            </a:r>
            <a:endParaRPr lang="en-US" sz="1300" dirty="0"/>
          </a:p>
        </p:txBody>
      </p:sp>
      <p:sp>
        <p:nvSpPr>
          <p:cNvPr id="4" name="Shape 2"/>
          <p:cNvSpPr/>
          <p:nvPr/>
        </p:nvSpPr>
        <p:spPr>
          <a:xfrm>
            <a:off x="640080" y="1737360"/>
            <a:ext cx="10972800" cy="2926080"/>
          </a:xfrm>
          <a:prstGeom prst="roundRect">
            <a:avLst>
              <a:gd name="adj" fmla="val 2500"/>
            </a:avLst>
          </a:prstGeom>
          <a:solidFill>
            <a:srgbClr val="10161F"/>
          </a:solidFill>
          <a:ln/>
        </p:spPr>
      </p:sp>
      <p:sp>
        <p:nvSpPr>
          <p:cNvPr id="5" name="Text 3"/>
          <p:cNvSpPr txBox="1"/>
          <p:nvPr/>
        </p:nvSpPr>
        <p:spPr>
          <a:xfrm>
            <a:off x="777240" y="1810512"/>
            <a:ext cx="1069848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Comprobaciones</a:t>
            </a:r>
            <a:endParaRPr lang="en-US" sz="1000" dirty="0"/>
          </a:p>
        </p:txBody>
      </p:sp>
      <p:sp>
        <p:nvSpPr>
          <p:cNvPr id="6" name="Text 4"/>
          <p:cNvSpPr txBox="1"/>
          <p:nvPr/>
        </p:nvSpPr>
        <p:spPr>
          <a:xfrm>
            <a:off x="777240" y="2103120"/>
            <a:ext cx="10698480" cy="2468880"/>
          </a:xfrm>
          <a:prstGeom prst="rect">
            <a:avLst/>
          </a:prstGeom>
          <a:noFill/>
          <a:ln/>
        </p:spPr>
        <p:txBody>
          <a:bodyPr wrap="square" lIns="0" tIns="0" rIns="0" bIns="0" rtlCol="0" anchor="t"/>
          <a:lstStyle/>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¿PostgreSQL escucha?</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sudo -u postgres psql -c "\l"          # lista bases de datos</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¿Odoo responde por HTTP?</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curl -I http://localhost:8069/web/login</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HTTP/1.0 200 OK                          &lt;- respuesta correcta</a:t>
            </a:r>
            <a:endParaRPr lang="en-US" sz="1250" dirty="0"/>
          </a:p>
          <a:p>
            <a:pPr algn="l" indent="0" marL="0">
              <a:lnSpc>
                <a:spcPct val="105000"/>
              </a:lnSpc>
              <a:buNone/>
            </a:pPr>
            <a:endParaRPr lang="en-US" sz="1250" dirty="0"/>
          </a:p>
          <a:p>
            <a:pPr algn="l" indent="0" marL="0">
              <a:lnSpc>
                <a:spcPct val="105000"/>
              </a:lnSpc>
              <a:buNone/>
            </a:pPr>
            <a:r>
              <a:rPr lang="en-US" sz="1250" dirty="0">
                <a:solidFill>
                  <a:srgbClr val="5A6B7B"/>
                </a:solidFill>
                <a:latin typeface="Courier New" pitchFamily="34" charset="0"/>
                <a:ea typeface="Courier New" pitchFamily="34" charset="-122"/>
                <a:cs typeface="Courier New" pitchFamily="34" charset="-120"/>
              </a:rPr>
              <a:t># ¿la BD se inicializó? (en el log al arrancar)</a:t>
            </a:r>
            <a:endParaRPr lang="en-US" sz="1250" dirty="0"/>
          </a:p>
          <a:p>
            <a:pPr algn="l" indent="0" marL="0">
              <a:lnSpc>
                <a:spcPct val="105000"/>
              </a:lnSpc>
              <a:buNone/>
            </a:pPr>
            <a:r>
              <a:rPr lang="en-US" sz="1250" dirty="0">
                <a:solidFill>
                  <a:srgbClr val="9AE6B4"/>
                </a:solidFill>
                <a:latin typeface="Courier New" pitchFamily="34" charset="0"/>
                <a:ea typeface="Courier New" pitchFamily="34" charset="-122"/>
                <a:cs typeface="Courier New" pitchFamily="34" charset="-120"/>
              </a:rPr>
              <a:t>Modules loaded.  /  Registry loaded</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Errores típicos y cómo resolverlos</a:t>
            </a:r>
            <a:endParaRPr lang="en-US" sz="2900" dirty="0"/>
          </a:p>
        </p:txBody>
      </p:sp>
      <p:sp>
        <p:nvSpPr>
          <p:cNvPr id="3" name="Text 1"/>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4" name="Shape 2"/>
          <p:cNvSpPr/>
          <p:nvPr/>
        </p:nvSpPr>
        <p:spPr>
          <a:xfrm>
            <a:off x="548640" y="1463040"/>
            <a:ext cx="320040" cy="320040"/>
          </a:xfrm>
          <a:prstGeom prst="roundRect">
            <a:avLst>
              <a:gd name="adj" fmla="val 22857"/>
            </a:avLst>
          </a:prstGeom>
          <a:solidFill>
            <a:srgbClr val="F6AD55"/>
          </a:solidFill>
          <a:ln/>
        </p:spPr>
      </p:sp>
      <p:sp>
        <p:nvSpPr>
          <p:cNvPr id="5" name="Text 3"/>
          <p:cNvSpPr txBox="1"/>
          <p:nvPr/>
        </p:nvSpPr>
        <p:spPr>
          <a:xfrm>
            <a:off x="1005840" y="1389888"/>
            <a:ext cx="5943600" cy="45720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La instalación de dependencias falla al compilar</a:t>
            </a:r>
            <a:endParaRPr lang="en-US" sz="1300" dirty="0"/>
          </a:p>
        </p:txBody>
      </p:sp>
      <p:sp>
        <p:nvSpPr>
          <p:cNvPr id="6" name="Text 4"/>
          <p:cNvSpPr txBox="1"/>
          <p:nvPr/>
        </p:nvSpPr>
        <p:spPr>
          <a:xfrm>
            <a:off x="7040880" y="1389888"/>
            <a:ext cx="4572000" cy="54864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Falta alguna librería -dev del Paso 2. Revísalas e instálalas.</a:t>
            </a:r>
            <a:endParaRPr lang="en-US" sz="1200" dirty="0"/>
          </a:p>
        </p:txBody>
      </p:sp>
      <p:sp>
        <p:nvSpPr>
          <p:cNvPr id="7" name="Shape 5"/>
          <p:cNvSpPr/>
          <p:nvPr/>
        </p:nvSpPr>
        <p:spPr>
          <a:xfrm>
            <a:off x="548640" y="2240280"/>
            <a:ext cx="320040" cy="320040"/>
          </a:xfrm>
          <a:prstGeom prst="roundRect">
            <a:avLst>
              <a:gd name="adj" fmla="val 22857"/>
            </a:avLst>
          </a:prstGeom>
          <a:solidFill>
            <a:srgbClr val="F6AD55"/>
          </a:solidFill>
          <a:ln/>
        </p:spPr>
      </p:sp>
      <p:sp>
        <p:nvSpPr>
          <p:cNvPr id="8" name="Text 6"/>
          <p:cNvSpPr txBox="1"/>
          <p:nvPr/>
        </p:nvSpPr>
        <p:spPr>
          <a:xfrm>
            <a:off x="1005840" y="2167128"/>
            <a:ext cx="5943600" cy="45720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FATAL: password authentication failed</a:t>
            </a:r>
            <a:endParaRPr lang="en-US" sz="1300" dirty="0"/>
          </a:p>
        </p:txBody>
      </p:sp>
      <p:sp>
        <p:nvSpPr>
          <p:cNvPr id="9" name="Text 7"/>
          <p:cNvSpPr txBox="1"/>
          <p:nvPr/>
        </p:nvSpPr>
        <p:spPr>
          <a:xfrm>
            <a:off x="7040880" y="2167128"/>
            <a:ext cx="4572000" cy="54864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El usuario/clave de odoo.conf no coincide con el rol de PostgreSQL.</a:t>
            </a:r>
            <a:endParaRPr lang="en-US" sz="1200" dirty="0"/>
          </a:p>
        </p:txBody>
      </p:sp>
      <p:sp>
        <p:nvSpPr>
          <p:cNvPr id="10" name="Shape 8"/>
          <p:cNvSpPr/>
          <p:nvPr/>
        </p:nvSpPr>
        <p:spPr>
          <a:xfrm>
            <a:off x="548640" y="3017520"/>
            <a:ext cx="320040" cy="320040"/>
          </a:xfrm>
          <a:prstGeom prst="roundRect">
            <a:avLst>
              <a:gd name="adj" fmla="val 22857"/>
            </a:avLst>
          </a:prstGeom>
          <a:solidFill>
            <a:srgbClr val="F6AD55"/>
          </a:solidFill>
          <a:ln/>
        </p:spPr>
      </p:sp>
      <p:sp>
        <p:nvSpPr>
          <p:cNvPr id="11" name="Text 9"/>
          <p:cNvSpPr txBox="1"/>
          <p:nvPr/>
        </p:nvSpPr>
        <p:spPr>
          <a:xfrm>
            <a:off x="1005840" y="2944368"/>
            <a:ext cx="5943600" cy="45720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Address already in use (puerto 8069)</a:t>
            </a:r>
            <a:endParaRPr lang="en-US" sz="1300" dirty="0"/>
          </a:p>
        </p:txBody>
      </p:sp>
      <p:sp>
        <p:nvSpPr>
          <p:cNvPr id="12" name="Text 10"/>
          <p:cNvSpPr txBox="1"/>
          <p:nvPr/>
        </p:nvSpPr>
        <p:spPr>
          <a:xfrm>
            <a:off x="7040880" y="2944368"/>
            <a:ext cx="4572000" cy="54864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Ya hay un Odoo corriendo, o cambia http_port en la config.</a:t>
            </a:r>
            <a:endParaRPr lang="en-US" sz="1200" dirty="0"/>
          </a:p>
        </p:txBody>
      </p:sp>
      <p:sp>
        <p:nvSpPr>
          <p:cNvPr id="13" name="Shape 11"/>
          <p:cNvSpPr/>
          <p:nvPr/>
        </p:nvSpPr>
        <p:spPr>
          <a:xfrm>
            <a:off x="548640" y="3794760"/>
            <a:ext cx="320040" cy="320040"/>
          </a:xfrm>
          <a:prstGeom prst="roundRect">
            <a:avLst>
              <a:gd name="adj" fmla="val 22857"/>
            </a:avLst>
          </a:prstGeom>
          <a:solidFill>
            <a:srgbClr val="F6AD55"/>
          </a:solidFill>
          <a:ln/>
        </p:spPr>
      </p:sp>
      <p:sp>
        <p:nvSpPr>
          <p:cNvPr id="14" name="Text 12"/>
          <p:cNvSpPr txBox="1"/>
          <p:nvPr/>
        </p:nvSpPr>
        <p:spPr>
          <a:xfrm>
            <a:off x="1005840" y="3721608"/>
            <a:ext cx="5943600" cy="45720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No se ve la web desde otro equipo</a:t>
            </a:r>
            <a:endParaRPr lang="en-US" sz="1300" dirty="0"/>
          </a:p>
        </p:txBody>
      </p:sp>
      <p:sp>
        <p:nvSpPr>
          <p:cNvPr id="15" name="Text 13"/>
          <p:cNvSpPr txBox="1"/>
          <p:nvPr/>
        </p:nvSpPr>
        <p:spPr>
          <a:xfrm>
            <a:off x="7040880" y="3721608"/>
            <a:ext cx="4572000" cy="54864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Abre el puerto en el firewall: sudo ufw allow 8069.</a:t>
            </a:r>
            <a:endParaRPr lang="en-US" sz="1200" dirty="0"/>
          </a:p>
        </p:txBody>
      </p:sp>
      <p:sp>
        <p:nvSpPr>
          <p:cNvPr id="16" name="Shape 14"/>
          <p:cNvSpPr/>
          <p:nvPr/>
        </p:nvSpPr>
        <p:spPr>
          <a:xfrm>
            <a:off x="548640" y="4572000"/>
            <a:ext cx="320040" cy="320040"/>
          </a:xfrm>
          <a:prstGeom prst="roundRect">
            <a:avLst>
              <a:gd name="adj" fmla="val 22857"/>
            </a:avLst>
          </a:prstGeom>
          <a:solidFill>
            <a:srgbClr val="F6AD55"/>
          </a:solidFill>
          <a:ln/>
        </p:spPr>
      </p:sp>
      <p:sp>
        <p:nvSpPr>
          <p:cNvPr id="17" name="Text 15"/>
          <p:cNvSpPr txBox="1"/>
          <p:nvPr/>
        </p:nvSpPr>
        <p:spPr>
          <a:xfrm>
            <a:off x="1005840" y="4498848"/>
            <a:ext cx="5943600" cy="457200"/>
          </a:xfrm>
          <a:prstGeom prst="rect">
            <a:avLst/>
          </a:prstGeom>
          <a:noFill/>
          <a:ln/>
        </p:spPr>
        <p:txBody>
          <a:bodyPr wrap="square" lIns="0" tIns="0" rIns="0" bIns="0" rtlCol="0" anchor="ctr"/>
          <a:lstStyle/>
          <a:p>
            <a:pPr indent="0" marL="0">
              <a:buNone/>
            </a:pPr>
            <a:r>
              <a:rPr lang="en-US" sz="1300" b="1" dirty="0">
                <a:solidFill>
                  <a:srgbClr val="1A202C"/>
                </a:solidFill>
                <a:latin typeface="Calibri" pitchFamily="34" charset="0"/>
                <a:ea typeface="Calibri" pitchFamily="34" charset="-122"/>
                <a:cs typeface="Calibri" pitchFamily="34" charset="-120"/>
              </a:rPr>
              <a:t>Los informes PDF salen en blanco</a:t>
            </a:r>
            <a:endParaRPr lang="en-US" sz="1300" dirty="0"/>
          </a:p>
        </p:txBody>
      </p:sp>
      <p:sp>
        <p:nvSpPr>
          <p:cNvPr id="18" name="Text 16"/>
          <p:cNvSpPr txBox="1"/>
          <p:nvPr/>
        </p:nvSpPr>
        <p:spPr>
          <a:xfrm>
            <a:off x="7040880" y="4498848"/>
            <a:ext cx="4572000" cy="548640"/>
          </a:xfrm>
          <a:prstGeom prst="rect">
            <a:avLst/>
          </a:prstGeom>
          <a:noFill/>
          <a:ln/>
        </p:spPr>
        <p:txBody>
          <a:bodyPr wrap="square" lIns="0" tIns="0" rIns="0" bIns="0" rtlCol="0" anchor="ctr"/>
          <a:lstStyle/>
          <a:p>
            <a:pPr indent="0" marL="0">
              <a:buNone/>
            </a:pPr>
            <a:r>
              <a:rPr lang="en-US" sz="1200" dirty="0">
                <a:solidFill>
                  <a:srgbClr val="5A6B7B"/>
                </a:solidFill>
                <a:latin typeface="Calibri" pitchFamily="34" charset="0"/>
                <a:ea typeface="Calibri" pitchFamily="34" charset="-122"/>
                <a:cs typeface="Calibri" pitchFamily="34" charset="-120"/>
              </a:rPr>
              <a:t>Falta wkhtmltopdf; instálalo aparte (no hace falta para arrancar).</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412480" cy="640080"/>
          </a:xfrm>
          <a:prstGeom prst="rect">
            <a:avLst/>
          </a:prstGeom>
          <a:noFill/>
          <a:ln/>
        </p:spPr>
        <p:txBody>
          <a:bodyPr wrap="square" lIns="0" tIns="0" rIns="0" bIns="0" rtlCol="0" anchor="ctr"/>
          <a:lstStyle/>
          <a:p>
            <a:pPr indent="0" marL="0">
              <a:buNone/>
            </a:pPr>
            <a:r>
              <a:rPr lang="en-US" sz="2900" b="1" dirty="0">
                <a:solidFill>
                  <a:srgbClr val="1D3557"/>
                </a:solidFill>
                <a:latin typeface="Cambria" pitchFamily="34" charset="0"/>
                <a:ea typeface="Cambria" pitchFamily="34" charset="-122"/>
                <a:cs typeface="Cambria" pitchFamily="34" charset="-120"/>
              </a:rPr>
              <a:t>Alternativa: instalación por paquete .deb</a:t>
            </a:r>
            <a:endParaRPr lang="en-US" sz="2900" dirty="0"/>
          </a:p>
        </p:txBody>
      </p:sp>
      <p:sp>
        <p:nvSpPr>
          <p:cNvPr id="3" name="Text 1"/>
          <p:cNvSpPr txBox="1"/>
          <p:nvPr/>
        </p:nvSpPr>
        <p:spPr>
          <a:xfrm>
            <a:off x="566928" y="969264"/>
            <a:ext cx="8412480" cy="365760"/>
          </a:xfrm>
          <a:prstGeom prst="rect">
            <a:avLst/>
          </a:prstGeom>
          <a:noFill/>
          <a:ln/>
        </p:spPr>
        <p:txBody>
          <a:bodyPr wrap="square" lIns="0" tIns="0" rIns="0" bIns="0" rtlCol="0" anchor="ctr"/>
          <a:lstStyle/>
          <a:p>
            <a:pPr indent="0" marL="0">
              <a:buNone/>
            </a:pPr>
            <a:r>
              <a:rPr lang="en-US" sz="1400" i="1" dirty="0">
                <a:solidFill>
                  <a:srgbClr val="5A6B7B"/>
                </a:solidFill>
                <a:latin typeface="Calibri" pitchFamily="34" charset="0"/>
                <a:ea typeface="Calibri" pitchFamily="34" charset="-122"/>
                <a:cs typeface="Calibri" pitchFamily="34" charset="-120"/>
              </a:rPr>
              <a:t>Más rápida, menos control</a:t>
            </a:r>
            <a:endParaRPr lang="en-US" sz="1400" dirty="0"/>
          </a:p>
        </p:txBody>
      </p:sp>
      <p:sp>
        <p:nvSpPr>
          <p:cNvPr id="4" name="Text 2"/>
          <p:cNvSpPr txBox="1"/>
          <p:nvPr/>
        </p:nvSpPr>
        <p:spPr>
          <a:xfrm>
            <a:off x="8869680" y="438912"/>
            <a:ext cx="2743200" cy="320040"/>
          </a:xfrm>
          <a:prstGeom prst="rect">
            <a:avLst/>
          </a:prstGeom>
          <a:noFill/>
          <a:ln/>
        </p:spPr>
        <p:txBody>
          <a:bodyPr wrap="square" lIns="0" tIns="0" rIns="0" bIns="0" rtlCol="0" anchor="ctr"/>
          <a:lstStyle/>
          <a:p>
            <a:pPr algn="r" indent="0" marL="0">
              <a:buNone/>
            </a:pPr>
            <a:r>
              <a:rPr lang="en-US" sz="1100" dirty="0">
                <a:solidFill>
                  <a:srgbClr val="2B6CB0"/>
                </a:solidFill>
                <a:latin typeface="Calibri" pitchFamily="34" charset="0"/>
                <a:ea typeface="Calibri" pitchFamily="34" charset="-122"/>
                <a:cs typeface="Calibri" pitchFamily="34" charset="-120"/>
              </a:rPr>
              <a:t>SGE · Despliegue de Odoo en Linux</a:t>
            </a:r>
            <a:endParaRPr lang="en-US" sz="1100" dirty="0"/>
          </a:p>
        </p:txBody>
      </p:sp>
      <p:sp>
        <p:nvSpPr>
          <p:cNvPr id="5" name="Shape 3"/>
          <p:cNvSpPr/>
          <p:nvPr/>
        </p:nvSpPr>
        <p:spPr>
          <a:xfrm>
            <a:off x="548640" y="1508760"/>
            <a:ext cx="11064240" cy="2103120"/>
          </a:xfrm>
          <a:prstGeom prst="roundRect">
            <a:avLst>
              <a:gd name="adj" fmla="val 3478"/>
            </a:avLst>
          </a:prstGeom>
          <a:solidFill>
            <a:srgbClr val="1A202C"/>
          </a:solidFill>
          <a:ln/>
        </p:spPr>
      </p:sp>
      <p:sp>
        <p:nvSpPr>
          <p:cNvPr id="6" name="Text 4"/>
          <p:cNvSpPr txBox="1"/>
          <p:nvPr/>
        </p:nvSpPr>
        <p:spPr>
          <a:xfrm>
            <a:off x="685800" y="1581912"/>
            <a:ext cx="10789920" cy="256032"/>
          </a:xfrm>
          <a:prstGeom prst="rect">
            <a:avLst/>
          </a:prstGeom>
          <a:noFill/>
          <a:ln/>
        </p:spPr>
        <p:txBody>
          <a:bodyPr wrap="square" lIns="0" tIns="0" rIns="0" bIns="0" rtlCol="0" anchor="ctr"/>
          <a:lstStyle/>
          <a:p>
            <a:pPr indent="0" marL="0">
              <a:buNone/>
            </a:pPr>
            <a:r>
              <a:rPr lang="en-US" sz="1000" b="1" dirty="0">
                <a:solidFill>
                  <a:srgbClr val="FFD343"/>
                </a:solidFill>
                <a:latin typeface="Calibri" pitchFamily="34" charset="0"/>
                <a:ea typeface="Calibri" pitchFamily="34" charset="-122"/>
                <a:cs typeface="Calibri" pitchFamily="34" charset="-120"/>
              </a:rPr>
              <a:t>Repositorio oficial de Odoo</a:t>
            </a:r>
            <a:endParaRPr lang="en-US" sz="1000" dirty="0"/>
          </a:p>
        </p:txBody>
      </p:sp>
      <p:sp>
        <p:nvSpPr>
          <p:cNvPr id="7" name="Text 5"/>
          <p:cNvSpPr txBox="1"/>
          <p:nvPr/>
        </p:nvSpPr>
        <p:spPr>
          <a:xfrm>
            <a:off x="685800" y="1874520"/>
            <a:ext cx="10789920" cy="1645920"/>
          </a:xfrm>
          <a:prstGeom prst="rect">
            <a:avLst/>
          </a:prstGeom>
          <a:noFill/>
          <a:ln/>
        </p:spPr>
        <p:txBody>
          <a:bodyPr wrap="square" lIns="0" tIns="0" rIns="0" bIns="0" rtlCol="0" anchor="t"/>
          <a:lstStyle/>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wget -qO- https://nightly.odoo.com/odoo.key | \</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  sudo gpg --dearmor -o /usr/share/keyrings/odoo.gpg</a:t>
            </a:r>
            <a:endParaRPr lang="en-US" sz="1250" dirty="0"/>
          </a:p>
          <a:p>
            <a:pPr algn="l" indent="0" marL="0">
              <a:lnSpc>
                <a:spcPct val="105000"/>
              </a:lnSpc>
              <a:buNone/>
            </a:pPr>
            <a:r>
              <a:rPr lang="en-US" sz="1050" dirty="0">
                <a:solidFill>
                  <a:srgbClr val="E2E8F0"/>
                </a:solidFill>
                <a:latin typeface="Courier New" pitchFamily="34" charset="0"/>
                <a:ea typeface="Courier New" pitchFamily="34" charset="-122"/>
                <a:cs typeface="Courier New" pitchFamily="34" charset="-120"/>
              </a:rPr>
              <a:t>echo 'deb [signed-by=/usr/share/keyrings/odoo.gpg] https://nightly.odoo.com/18.0/nightly/deb/ ./' \</a:t>
            </a:r>
            <a:endParaRPr lang="en-US" sz="1250" dirty="0"/>
          </a:p>
          <a:p>
            <a:pPr algn="l" indent="0" marL="0">
              <a:lnSpc>
                <a:spcPct val="105000"/>
              </a:lnSpc>
              <a:buNone/>
            </a:pPr>
            <a:r>
              <a:rPr lang="en-US" sz="1050" dirty="0">
                <a:solidFill>
                  <a:srgbClr val="E2E8F0"/>
                </a:solidFill>
                <a:latin typeface="Courier New" pitchFamily="34" charset="0"/>
                <a:ea typeface="Courier New" pitchFamily="34" charset="-122"/>
                <a:cs typeface="Courier New" pitchFamily="34" charset="-120"/>
              </a:rPr>
              <a:t>  | sudo tee /etc/apt/sources.list.d/odoo.list</a:t>
            </a:r>
            <a:endParaRPr lang="en-US" sz="1250" dirty="0"/>
          </a:p>
          <a:p>
            <a:pPr algn="l" indent="0" marL="0">
              <a:lnSpc>
                <a:spcPct val="105000"/>
              </a:lnSpc>
              <a:buNone/>
            </a:pPr>
            <a:r>
              <a:rPr lang="en-US" sz="1250" dirty="0">
                <a:solidFill>
                  <a:srgbClr val="E2E8F0"/>
                </a:solidFill>
                <a:latin typeface="Courier New" pitchFamily="34" charset="0"/>
                <a:ea typeface="Courier New" pitchFamily="34" charset="-122"/>
                <a:cs typeface="Courier New" pitchFamily="34" charset="-120"/>
              </a:rPr>
              <a:t>sudo apt update &amp;&amp; sudo apt install -y odoo</a:t>
            </a:r>
            <a:endParaRPr lang="en-US" sz="1250" dirty="0"/>
          </a:p>
        </p:txBody>
      </p:sp>
      <p:sp>
        <p:nvSpPr>
          <p:cNvPr id="8" name="Shape 6"/>
          <p:cNvSpPr/>
          <p:nvPr/>
        </p:nvSpPr>
        <p:spPr>
          <a:xfrm>
            <a:off x="548640" y="3886200"/>
            <a:ext cx="11064240" cy="1097280"/>
          </a:xfrm>
          <a:prstGeom prst="roundRect">
            <a:avLst>
              <a:gd name="adj" fmla="val 5000"/>
            </a:avLst>
          </a:prstGeom>
          <a:solidFill>
            <a:srgbClr val="F0F4F8"/>
          </a:solidFill>
          <a:ln/>
        </p:spPr>
      </p:sp>
      <p:sp>
        <p:nvSpPr>
          <p:cNvPr id="9" name="Text 7"/>
          <p:cNvSpPr txBox="1"/>
          <p:nvPr/>
        </p:nvSpPr>
        <p:spPr>
          <a:xfrm>
            <a:off x="731520" y="3995928"/>
            <a:ext cx="10698480" cy="877824"/>
          </a:xfrm>
          <a:prstGeom prst="rect">
            <a:avLst/>
          </a:prstGeom>
          <a:noFill/>
          <a:ln/>
        </p:spPr>
        <p:txBody>
          <a:bodyPr wrap="square" lIns="0" tIns="0" rIns="0" bIns="0" rtlCol="0" anchor="t"/>
          <a:lstStyle/>
          <a:p>
            <a:pPr indent="0" marL="0">
              <a:lnSpc>
                <a:spcPct val="105000"/>
              </a:lnSpc>
              <a:buNone/>
            </a:pPr>
            <a:r>
              <a:rPr lang="en-US" sz="1300" dirty="0">
                <a:solidFill>
                  <a:srgbClr val="1A202C"/>
                </a:solidFill>
                <a:latin typeface="Calibri" pitchFamily="34" charset="0"/>
                <a:ea typeface="Calibri" pitchFamily="34" charset="-122"/>
                <a:cs typeface="Calibri" pitchFamily="34" charset="-120"/>
              </a:rPr>
              <a:t>El paquete .deb instala Odoo, crea el usuario y el servicio automáticamente: más rápido para un servidor de producción sencillo. A cambio, ves menos qué ocurre por dentro y es menos cómodo para desarrollar módulos. Por eso, para SGE, preferimos la instalación desde fuente.</a:t>
            </a:r>
            <a:endParaRPr lang="en-US" sz="1300" dirty="0"/>
          </a:p>
        </p:txBody>
      </p:sp>
      <p:sp>
        <p:nvSpPr>
          <p:cNvPr id="10" name="Shape 8"/>
          <p:cNvSpPr/>
          <p:nvPr/>
        </p:nvSpPr>
        <p:spPr>
          <a:xfrm>
            <a:off x="548640" y="5212080"/>
            <a:ext cx="3200400" cy="365760"/>
          </a:xfrm>
          <a:prstGeom prst="roundRect">
            <a:avLst>
              <a:gd name="adj" fmla="val 50000"/>
            </a:avLst>
          </a:prstGeom>
          <a:solidFill>
            <a:srgbClr val="9B2C2C"/>
          </a:solidFill>
          <a:ln/>
        </p:spPr>
      </p:sp>
      <p:sp>
        <p:nvSpPr>
          <p:cNvPr id="11" name="Text 9"/>
          <p:cNvSpPr txBox="1"/>
          <p:nvPr/>
        </p:nvSpPr>
        <p:spPr>
          <a:xfrm>
            <a:off x="548640" y="5212080"/>
            <a:ext cx="320040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 verificado aquí (repositorio no accesible en el entorno de prueba)</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B6CB0"/>
        </a:solidFill>
      </p:bgPr>
    </p:bg>
    <p:spTree>
      <p:nvGrpSpPr>
        <p:cNvPr id="1" name=""/>
        <p:cNvGrpSpPr/>
        <p:nvPr/>
      </p:nvGrpSpPr>
      <p:grpSpPr>
        <a:xfrm>
          <a:off x="0" y="0"/>
          <a:ext cx="0" cy="0"/>
          <a:chOff x="0" y="0"/>
          <a:chExt cx="0" cy="0"/>
        </a:xfrm>
      </p:grpSpPr>
      <p:sp>
        <p:nvSpPr>
          <p:cNvPr id="2" name="Text 0"/>
          <p:cNvSpPr txBox="1"/>
          <p:nvPr/>
        </p:nvSpPr>
        <p:spPr>
          <a:xfrm>
            <a:off x="640080" y="731520"/>
            <a:ext cx="109728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Resumen</a:t>
            </a:r>
            <a:endParaRPr lang="en-US" sz="3400" dirty="0"/>
          </a:p>
        </p:txBody>
      </p:sp>
      <p:sp>
        <p:nvSpPr>
          <p:cNvPr id="3" name="Text 1"/>
          <p:cNvSpPr txBox="1"/>
          <p:nvPr/>
        </p:nvSpPr>
        <p:spPr>
          <a:xfrm>
            <a:off x="731520" y="1737360"/>
            <a:ext cx="10515600" cy="2926080"/>
          </a:xfrm>
          <a:prstGeom prst="rect">
            <a:avLst/>
          </a:prstGeom>
          <a:noFill/>
          <a:ln/>
        </p:spPr>
        <p:txBody>
          <a:bodyPr wrap="square" lIns="0" tIns="0" rIns="0" bIns="0" rtlCol="0" anchor="t"/>
          <a:lstStyle/>
          <a:p>
            <a:pPr marL="190500" indent="-1905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Cuatro piezas: Ubuntu, PostgreSQL, Python (venv) y el código de Odoo.</a:t>
            </a:r>
            <a:endParaRPr lang="en-US" sz="1500" dirty="0"/>
          </a:p>
          <a:p>
            <a:pPr marL="190500" indent="-1905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Instalación desde fuente: dependencias del sistema, rol de BD, clonar, venv + requirements, configurar y arrancar.</a:t>
            </a:r>
            <a:endParaRPr lang="en-US" sz="1500" dirty="0"/>
          </a:p>
          <a:p>
            <a:pPr marL="190500" indent="-1905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Comprobado: la BD se inicializa y el servidor responde por HTTP en el 8069.</a:t>
            </a:r>
            <a:endParaRPr lang="en-US" sz="1500" dirty="0"/>
          </a:p>
          <a:p>
            <a:pPr marL="190500" indent="-190500">
              <a:spcAft>
                <a:spcPts val="600"/>
              </a:spcAft>
              <a:buSzPct val="100000"/>
              <a:buChar char="•"/>
            </a:pPr>
            <a:r>
              <a:rPr lang="en-US" sz="1500" dirty="0">
                <a:solidFill>
                  <a:srgbClr val="FFFFFF"/>
                </a:solidFill>
                <a:latin typeface="Calibri" pitchFamily="34" charset="0"/>
                <a:ea typeface="Calibri" pitchFamily="34" charset="-122"/>
                <a:cs typeface="Calibri" pitchFamily="34" charset="-120"/>
              </a:rPr>
              <a:t>Para producción: usuario de servicio, systemd para arranque automático y Nginx + HTTPS por delante.</a:t>
            </a:r>
            <a:endParaRPr lang="en-US" sz="1500" dirty="0"/>
          </a:p>
        </p:txBody>
      </p:sp>
      <p:sp>
        <p:nvSpPr>
          <p:cNvPr id="4" name="Text 2"/>
          <p:cNvSpPr txBox="1"/>
          <p:nvPr/>
        </p:nvSpPr>
        <p:spPr>
          <a:xfrm>
            <a:off x="731520" y="4846320"/>
            <a:ext cx="10515600" cy="365760"/>
          </a:xfrm>
          <a:prstGeom prst="rect">
            <a:avLst/>
          </a:prstGeom>
          <a:noFill/>
          <a:ln/>
        </p:spPr>
        <p:txBody>
          <a:bodyPr wrap="square" lIns="0" tIns="0" rIns="0" bIns="0" rtlCol="0" anchor="ctr"/>
          <a:lstStyle/>
          <a:p>
            <a:pPr indent="0" marL="0">
              <a:buNone/>
            </a:pPr>
            <a:r>
              <a:rPr lang="en-US" sz="1300" i="1" dirty="0">
                <a:solidFill>
                  <a:srgbClr val="FFD343"/>
                </a:solidFill>
                <a:latin typeface="Calibri" pitchFamily="34" charset="0"/>
                <a:ea typeface="Calibri" pitchFamily="34" charset="-122"/>
                <a:cs typeface="Calibri" pitchFamily="34" charset="-120"/>
              </a:rPr>
              <a:t>Odoo 18.0 · Ubuntu 24.04 · PostgreSQL 16 — comandos verificados en un entorno real</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2026-09-23T13:57:49Z</dcterms:created>
  <dcterms:modified xsi:type="dcterms:W3CDTF">2026-09-23T13:57:49Z</dcterms:modified>
</cp:coreProperties>
</file>